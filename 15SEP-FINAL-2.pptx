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embeddedFontLst>
    <p:embeddedFont>
      <p:font typeface="Roboto"/>
      <p:regular r:id="rId19"/>
      <p:bold r:id="rId20"/>
      <p:italic r:id="rId21"/>
      <p:boldItalic r:id="rId22"/>
    </p:embeddedFont>
    <p:embeddedFont>
      <p:font typeface="Dela Gothic One"/>
      <p:regular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8A1B4C-FCDE-41CE-B8D6-93394B903F3C}">
  <a:tblStyle styleId="{798A1B4C-FCDE-41CE-B8D6-93394B903F3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DMSans-regular.fntdata"/><Relationship Id="rId23" Type="http://schemas.openxmlformats.org/officeDocument/2006/relationships/font" Target="fonts/DelaGothicOn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 flipH="1">
            <a:off x="10995300" y="5661233"/>
            <a:ext cx="1196700" cy="1196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 flipH="1">
            <a:off x="10995300" y="5661167"/>
            <a:ext cx="1196700" cy="11967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520700" y="2425700"/>
            <a:ext cx="10962900" cy="124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20700" y="3718840"/>
            <a:ext cx="109629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614600" y="2753800"/>
            <a:ext cx="10962900" cy="1350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 flipH="1" rot="10800000">
            <a:off x="0" y="2247900"/>
            <a:ext cx="12192000" cy="461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0" y="2248000"/>
            <a:ext cx="12192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629200" y="984967"/>
            <a:ext cx="10962900" cy="1023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629200" y="2558767"/>
            <a:ext cx="10962900" cy="361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 flipH="1" rot="10800000">
            <a:off x="0" y="2247900"/>
            <a:ext cx="12192000" cy="461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0" y="2248000"/>
            <a:ext cx="12192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629200" y="984967"/>
            <a:ext cx="10962900" cy="1023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629200" y="2558767"/>
            <a:ext cx="5333100" cy="361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6259000" y="2558767"/>
            <a:ext cx="5333100" cy="361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 flipH="1" rot="10800000">
            <a:off x="0" y="875100"/>
            <a:ext cx="12192000" cy="598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0" y="875133"/>
            <a:ext cx="12192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131000" y="21800"/>
            <a:ext cx="11768700" cy="80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/>
        </p:nvSpPr>
        <p:spPr>
          <a:xfrm flipH="1" rot="10800000">
            <a:off x="4368800" y="33"/>
            <a:ext cx="78231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7"/>
          <p:cNvSpPr/>
          <p:nvPr/>
        </p:nvSpPr>
        <p:spPr>
          <a:xfrm rot="-5400000">
            <a:off x="1012250" y="3356550"/>
            <a:ext cx="6858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301437" y="477067"/>
            <a:ext cx="3744000" cy="1271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301433" y="1954400"/>
            <a:ext cx="3744000" cy="421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653667" y="651000"/>
            <a:ext cx="83028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 flipH="1">
            <a:off x="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/>
          <p:nvPr/>
        </p:nvSpPr>
        <p:spPr>
          <a:xfrm rot="5400000">
            <a:off x="2595233" y="3356900"/>
            <a:ext cx="68571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" type="subTitle"/>
          </p:nvPr>
        </p:nvSpPr>
        <p:spPr>
          <a:xfrm>
            <a:off x="354000" y="3705956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/>
        </p:nvSpPr>
        <p:spPr>
          <a:xfrm flipH="1" rot="10800000">
            <a:off x="0" y="-100"/>
            <a:ext cx="12192000" cy="6261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0"/>
          <p:cNvSpPr/>
          <p:nvPr/>
        </p:nvSpPr>
        <p:spPr>
          <a:xfrm flipH="1" rot="10800000">
            <a:off x="0" y="6163733"/>
            <a:ext cx="12192000" cy="987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0"/>
          <p:cNvSpPr txBox="1"/>
          <p:nvPr>
            <p:ph idx="1" type="body"/>
          </p:nvPr>
        </p:nvSpPr>
        <p:spPr>
          <a:xfrm>
            <a:off x="76200" y="6262433"/>
            <a:ext cx="11175900" cy="595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634000" y="1678033"/>
            <a:ext cx="109629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634000" y="4406167"/>
            <a:ext cx="109629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9200" y="984967"/>
            <a:ext cx="109629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9200" y="2558767"/>
            <a:ext cx="10962900" cy="3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Roboto"/>
              <a:buChar char="●"/>
              <a:defRPr sz="2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○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■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●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○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■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●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○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■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jp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21.png"/><Relationship Id="rId22" Type="http://schemas.openxmlformats.org/officeDocument/2006/relationships/image" Target="../media/image14.png"/><Relationship Id="rId21" Type="http://schemas.openxmlformats.org/officeDocument/2006/relationships/image" Target="../media/image16.png"/><Relationship Id="rId24" Type="http://schemas.openxmlformats.org/officeDocument/2006/relationships/image" Target="../media/image18.png"/><Relationship Id="rId23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5.png"/><Relationship Id="rId26" Type="http://schemas.openxmlformats.org/officeDocument/2006/relationships/image" Target="../media/image22.png"/><Relationship Id="rId25" Type="http://schemas.openxmlformats.org/officeDocument/2006/relationships/image" Target="../media/image20.png"/><Relationship Id="rId27" Type="http://schemas.openxmlformats.org/officeDocument/2006/relationships/image" Target="../media/image23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2.png"/><Relationship Id="rId11" Type="http://schemas.openxmlformats.org/officeDocument/2006/relationships/image" Target="../media/image8.png"/><Relationship Id="rId10" Type="http://schemas.openxmlformats.org/officeDocument/2006/relationships/image" Target="../media/image2.png"/><Relationship Id="rId13" Type="http://schemas.openxmlformats.org/officeDocument/2006/relationships/image" Target="../media/image30.png"/><Relationship Id="rId12" Type="http://schemas.openxmlformats.org/officeDocument/2006/relationships/image" Target="../media/image3.png"/><Relationship Id="rId15" Type="http://schemas.openxmlformats.org/officeDocument/2006/relationships/image" Target="../media/image36.png"/><Relationship Id="rId14" Type="http://schemas.openxmlformats.org/officeDocument/2006/relationships/image" Target="../media/image6.png"/><Relationship Id="rId17" Type="http://schemas.openxmlformats.org/officeDocument/2006/relationships/image" Target="../media/image11.png"/><Relationship Id="rId16" Type="http://schemas.openxmlformats.org/officeDocument/2006/relationships/image" Target="../media/image19.png"/><Relationship Id="rId19" Type="http://schemas.openxmlformats.org/officeDocument/2006/relationships/image" Target="../media/image13.png"/><Relationship Id="rId1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jpg"/><Relationship Id="rId4" Type="http://schemas.openxmlformats.org/officeDocument/2006/relationships/image" Target="../media/image28.png"/><Relationship Id="rId5" Type="http://schemas.openxmlformats.org/officeDocument/2006/relationships/image" Target="../media/image35.png"/><Relationship Id="rId6" Type="http://schemas.openxmlformats.org/officeDocument/2006/relationships/image" Target="../media/image31.png"/><Relationship Id="rId7" Type="http://schemas.openxmlformats.org/officeDocument/2006/relationships/image" Target="../media/image33.png"/><Relationship Id="rId8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jp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3081776" y="2545060"/>
            <a:ext cx="6355993" cy="524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238" y="227388"/>
            <a:ext cx="11383524" cy="640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/>
          <p:nvPr/>
        </p:nvSpPr>
        <p:spPr>
          <a:xfrm>
            <a:off x="5203794" y="502543"/>
            <a:ext cx="1977000" cy="257100"/>
          </a:xfrm>
          <a:prstGeom prst="roundRect">
            <a:avLst>
              <a:gd fmla="val 22123" name="adj"/>
            </a:avLst>
          </a:prstGeom>
          <a:solidFill>
            <a:srgbClr val="46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5305292" y="553244"/>
            <a:ext cx="23835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None/>
            </a:pPr>
            <a:r>
              <a:rPr b="0" i="0" lang="en-US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INTERNAL INCIDENT REPORT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5190580" y="823020"/>
            <a:ext cx="6356100" cy="22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00"/>
              <a:buFont typeface="Dela Gothic One"/>
              <a:buNone/>
            </a:pPr>
            <a:r>
              <a:rPr b="0" i="0" lang="en-US" sz="35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The PLC is Healthy. SCADA is Healthy. So Why Can't We See the Data?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5203794" y="3287911"/>
            <a:ext cx="63561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Bearing Temperature Sensor = 78°C</a:t>
            </a:r>
            <a:r>
              <a:rPr b="0" i="0" lang="en-US" sz="13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· SCADA displays: </a:t>
            </a:r>
            <a:r>
              <a:rPr b="0" i="0" lang="en-US" sz="130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COMMUNICATION FAILURE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5203794" y="4050605"/>
            <a:ext cx="6356100" cy="23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800"/>
              <a:buFont typeface="Dela Gothic One"/>
              <a:buNone/>
            </a:pPr>
            <a:r>
              <a:rPr b="0" i="0" lang="en-US" sz="48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WHERE DID THE COMMUNICATION BREAK?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50" y="152400"/>
            <a:ext cx="11515176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/>
          <p:nvPr/>
        </p:nvSpPr>
        <p:spPr>
          <a:xfrm>
            <a:off x="631908" y="526157"/>
            <a:ext cx="10927878" cy="1002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Before Networking: What Does One Device Need to Talk to Another?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50"/>
              <a:buFont typeface="Arial"/>
              <a:buNone/>
            </a:pPr>
            <a:r>
              <a:t/>
            </a:r>
            <a:endParaRPr sz="3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631908" y="1785441"/>
            <a:ext cx="11537463" cy="224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0"/>
              <a:buFont typeface="DM Sans"/>
              <a:buNone/>
            </a:pPr>
            <a:r>
              <a:rPr lang="en-US" sz="11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Before a single byte moves, every device on the network must resolve four fundamental questions. Miss one, and the data never arrives.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631908" y="2154634"/>
            <a:ext cx="5399647" cy="1679674"/>
          </a:xfrm>
          <a:prstGeom prst="roundRect">
            <a:avLst>
              <a:gd fmla="val 3809" name="adj"/>
            </a:avLst>
          </a:prstGeom>
          <a:solidFill>
            <a:srgbClr val="740B0B"/>
          </a:solidFill>
          <a:ln cap="flat" cmpd="sng" w="952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790555" y="2313285"/>
            <a:ext cx="456990" cy="457002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01" name="Google Shape;101;p17"/>
          <p:cNvSpPr/>
          <p:nvPr/>
        </p:nvSpPr>
        <p:spPr>
          <a:xfrm>
            <a:off x="916262" y="2438995"/>
            <a:ext cx="205576" cy="205581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7"/>
          <p:cNvSpPr/>
          <p:nvPr/>
        </p:nvSpPr>
        <p:spPr>
          <a:xfrm>
            <a:off x="790555" y="2898775"/>
            <a:ext cx="5082353" cy="25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1550"/>
              <a:buFont typeface="Dela Gothic One"/>
              <a:buNone/>
            </a:pPr>
            <a:r>
              <a:rPr lang="en-US" sz="1550">
                <a:solidFill>
                  <a:srgbClr val="C91313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WHO?</a:t>
            </a:r>
            <a:r>
              <a:rPr lang="en-US" sz="155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Identity</a:t>
            </a:r>
            <a:endParaRPr sz="1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790555" y="3226395"/>
            <a:ext cx="5082353" cy="224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0"/>
              <a:buFont typeface="DM Sans"/>
              <a:buNone/>
            </a:pPr>
            <a:r>
              <a:rPr lang="en-US" sz="11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MAC address on the local segment; IP address on the network layer.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6160040" y="2154634"/>
            <a:ext cx="5399746" cy="1679674"/>
          </a:xfrm>
          <a:prstGeom prst="roundRect">
            <a:avLst>
              <a:gd fmla="val 3809" name="adj"/>
            </a:avLst>
          </a:prstGeom>
          <a:solidFill>
            <a:srgbClr val="740B0B"/>
          </a:solidFill>
          <a:ln cap="flat" cmpd="sng" w="952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6318687" y="2313285"/>
            <a:ext cx="456990" cy="457002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06" name="Google Shape;106;p17"/>
          <p:cNvSpPr/>
          <p:nvPr/>
        </p:nvSpPr>
        <p:spPr>
          <a:xfrm>
            <a:off x="6444394" y="2438995"/>
            <a:ext cx="205576" cy="205581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7"/>
          <p:cNvSpPr/>
          <p:nvPr/>
        </p:nvSpPr>
        <p:spPr>
          <a:xfrm>
            <a:off x="6318687" y="2898775"/>
            <a:ext cx="5082453" cy="25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1550"/>
              <a:buFont typeface="Dela Gothic One"/>
              <a:buNone/>
            </a:pPr>
            <a:r>
              <a:rPr lang="en-US" sz="1550">
                <a:solidFill>
                  <a:srgbClr val="C91313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WHERE?</a:t>
            </a:r>
            <a:r>
              <a:rPr lang="en-US" sz="155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Location</a:t>
            </a:r>
            <a:endParaRPr sz="1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6318687" y="3226395"/>
            <a:ext cx="5082453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0"/>
              <a:buFont typeface="DM Sans"/>
              <a:buNone/>
            </a:pPr>
            <a:r>
              <a:rPr lang="en-US" sz="11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Subnet defines "local." Default gateway routes all traffic beyond the segment.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631908" y="3962797"/>
            <a:ext cx="5399647" cy="1679674"/>
          </a:xfrm>
          <a:prstGeom prst="roundRect">
            <a:avLst>
              <a:gd fmla="val 3809" name="adj"/>
            </a:avLst>
          </a:prstGeom>
          <a:solidFill>
            <a:srgbClr val="740B0B"/>
          </a:solidFill>
          <a:ln cap="flat" cmpd="sng" w="952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790555" y="4121448"/>
            <a:ext cx="456990" cy="457002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11" name="Google Shape;111;p17"/>
          <p:cNvSpPr/>
          <p:nvPr/>
        </p:nvSpPr>
        <p:spPr>
          <a:xfrm>
            <a:off x="916262" y="4247158"/>
            <a:ext cx="205576" cy="205581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7"/>
          <p:cNvSpPr/>
          <p:nvPr/>
        </p:nvSpPr>
        <p:spPr>
          <a:xfrm>
            <a:off x="790555" y="4706938"/>
            <a:ext cx="5082353" cy="25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1550"/>
              <a:buFont typeface="Dela Gothic One"/>
              <a:buNone/>
            </a:pPr>
            <a:r>
              <a:rPr lang="en-US" sz="1550">
                <a:solidFill>
                  <a:srgbClr val="C91313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WHICH SERVICE?</a:t>
            </a:r>
            <a:r>
              <a:rPr lang="en-US" sz="155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Port</a:t>
            </a:r>
            <a:endParaRPr sz="1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790555" y="5034558"/>
            <a:ext cx="5082353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0"/>
              <a:buFont typeface="DM Sans"/>
              <a:buNone/>
            </a:pPr>
            <a:r>
              <a:rPr lang="en-US" sz="11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Port number identifies the application endpoint — Modbus TCP, OPC UA, HTTPS.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6160040" y="3962797"/>
            <a:ext cx="5399746" cy="1679674"/>
          </a:xfrm>
          <a:prstGeom prst="roundRect">
            <a:avLst>
              <a:gd fmla="val 3809" name="adj"/>
            </a:avLst>
          </a:prstGeom>
          <a:solidFill>
            <a:srgbClr val="740B0B"/>
          </a:solidFill>
          <a:ln cap="flat" cmpd="sng" w="952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6318687" y="4121448"/>
            <a:ext cx="456990" cy="457002"/>
          </a:xfrm>
          <a:prstGeom prst="ellipse">
            <a:avLst/>
          </a:prstGeom>
          <a:solidFill>
            <a:srgbClr val="C9131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16" name="Google Shape;116;p17"/>
          <p:cNvSpPr/>
          <p:nvPr/>
        </p:nvSpPr>
        <p:spPr>
          <a:xfrm>
            <a:off x="6444394" y="4247158"/>
            <a:ext cx="205576" cy="205581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17"/>
          <p:cNvSpPr/>
          <p:nvPr/>
        </p:nvSpPr>
        <p:spPr>
          <a:xfrm>
            <a:off x="6318687" y="4706938"/>
            <a:ext cx="5082453" cy="25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1550"/>
              <a:buFont typeface="Dela Gothic One"/>
              <a:buNone/>
            </a:pPr>
            <a:r>
              <a:rPr lang="en-US" sz="1550">
                <a:solidFill>
                  <a:srgbClr val="C91313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HOW?</a:t>
            </a:r>
            <a:r>
              <a:rPr lang="en-US" sz="155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Protocol</a:t>
            </a:r>
            <a:endParaRPr sz="1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6318687" y="5034558"/>
            <a:ext cx="5082453" cy="449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0"/>
              <a:buFont typeface="DM Sans"/>
              <a:buNone/>
            </a:pPr>
            <a:r>
              <a:rPr lang="en-US" sz="11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The language both sides must agree on — Modbus TCP, OPC UA, and others.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631908" y="5787033"/>
            <a:ext cx="10927878" cy="544711"/>
          </a:xfrm>
          <a:prstGeom prst="roundRect">
            <a:avLst>
              <a:gd fmla="val 11746" name="adj"/>
            </a:avLst>
          </a:prstGeom>
          <a:solidFill>
            <a:srgbClr val="740B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205" y="5972572"/>
            <a:ext cx="190396" cy="152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/>
          <p:nvPr/>
        </p:nvSpPr>
        <p:spPr>
          <a:xfrm>
            <a:off x="1126898" y="5953522"/>
            <a:ext cx="10890176" cy="224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DM Sans"/>
              <a:buNone/>
            </a:pPr>
            <a:r>
              <a:rPr lang="en-US" sz="11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Our running example: a PLC reads </a:t>
            </a:r>
            <a:r>
              <a:rPr b="1" lang="en-US" sz="11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78°C</a:t>
            </a:r>
            <a:r>
              <a:rPr lang="en-US" sz="11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All four questions must be answered for that value to reach the operator screen.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/>
          <p:nvPr/>
        </p:nvSpPr>
        <p:spPr>
          <a:xfrm>
            <a:off x="631908" y="505916"/>
            <a:ext cx="1217086" cy="162818"/>
          </a:xfrm>
          <a:prstGeom prst="roundRect">
            <a:avLst>
              <a:gd fmla="val 22122" name="adj"/>
            </a:avLst>
          </a:prstGeom>
          <a:noFill/>
          <a:ln cap="flat" cmpd="sng" w="9525">
            <a:solidFill>
              <a:srgbClr val="C913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96201" y="538063"/>
            <a:ext cx="1698086" cy="98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650"/>
              <a:buFont typeface="DM Sans"/>
              <a:buNone/>
            </a:pPr>
            <a:r>
              <a:rPr b="0" i="0" lang="en-US" sz="65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STEP 3 — INFRASTRUCTURE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631908" y="694134"/>
            <a:ext cx="10927878" cy="352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200"/>
              <a:buFont typeface="Dela Gothic One"/>
              <a:buNone/>
            </a:pPr>
            <a:r>
              <a:rPr b="0" i="0" lang="en-US" sz="22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Who Moves the Data?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631908" y="1142107"/>
            <a:ext cx="11537463" cy="136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Three devices stand between our PLC and SCADA. Each makes a </a:t>
            </a:r>
            <a:r>
              <a:rPr b="1" i="0" lang="en-US" sz="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decision</a:t>
            </a:r>
            <a:r>
              <a:rPr b="0" i="0" lang="en-US" sz="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not a dictionary definition.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908" y="1350268"/>
            <a:ext cx="10927878" cy="47936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/>
          <p:nvPr/>
        </p:nvSpPr>
        <p:spPr>
          <a:xfrm>
            <a:off x="3943677" y="4752835"/>
            <a:ext cx="1651593" cy="311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950"/>
              <a:buFont typeface="Dela Gothic One"/>
              <a:buNone/>
            </a:pPr>
            <a:r>
              <a:rPr b="0" i="0" lang="en-US" sz="19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Router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943677" y="5148287"/>
            <a:ext cx="1651593" cy="56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Reads IP, connects networks, selects path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9190397" y="4941278"/>
            <a:ext cx="1651593" cy="311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950"/>
              <a:buFont typeface="Dela Gothic One"/>
              <a:buNone/>
            </a:pPr>
            <a:r>
              <a:rPr b="0" i="0" lang="en-US" sz="19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SCADA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9190397" y="5336731"/>
            <a:ext cx="1651593" cy="37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Receives data from the network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1378147" y="1781109"/>
            <a:ext cx="1651593" cy="311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950"/>
              <a:buFont typeface="Dela Gothic One"/>
              <a:buNone/>
            </a:pPr>
            <a:r>
              <a:rPr b="0" i="0" lang="en-US" sz="19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Switch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1378147" y="2176561"/>
            <a:ext cx="1651593" cy="56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Reads MAC, forwards within LAN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6603837" y="1781109"/>
            <a:ext cx="1651593" cy="311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950"/>
              <a:buFont typeface="Dela Gothic One"/>
              <a:buNone/>
            </a:pPr>
            <a:r>
              <a:rPr b="0" i="0" lang="en-US" sz="19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Firewall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6603837" y="2176561"/>
            <a:ext cx="1651593" cy="37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Inspects traffic, allows or blocks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631908" y="6215459"/>
            <a:ext cx="11537463" cy="136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00"/>
              <a:buFont typeface="DM Sans"/>
              <a:buNone/>
            </a:pPr>
            <a:r>
              <a:rPr b="0" i="0" lang="en-US" sz="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Each device either </a:t>
            </a:r>
            <a:r>
              <a:rPr b="0" i="0" lang="en-US" sz="800" u="none" cap="none" strike="noStrike">
                <a:solidFill>
                  <a:srgbClr val="22C55E"/>
                </a:solidFill>
                <a:latin typeface="DM Sans"/>
                <a:ea typeface="DM Sans"/>
                <a:cs typeface="DM Sans"/>
                <a:sym typeface="DM Sans"/>
              </a:rPr>
              <a:t>passes the data through</a:t>
            </a:r>
            <a:r>
              <a:rPr b="0" i="0" lang="en-US" sz="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or </a:t>
            </a:r>
            <a:r>
              <a:rPr b="0" i="0" lang="en-US" sz="80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stops it cold</a:t>
            </a:r>
            <a:r>
              <a:rPr b="0" i="0" lang="en-US" sz="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/>
          <p:nvPr/>
        </p:nvSpPr>
        <p:spPr>
          <a:xfrm>
            <a:off x="631908" y="496491"/>
            <a:ext cx="947912" cy="137021"/>
          </a:xfrm>
          <a:prstGeom prst="roundRect">
            <a:avLst>
              <a:gd fmla="val 22137" name="adj"/>
            </a:avLst>
          </a:prstGeom>
          <a:noFill/>
          <a:ln cap="flat" cmpd="sng" w="9525">
            <a:solidFill>
              <a:srgbClr val="C913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685981" y="523478"/>
            <a:ext cx="1449351" cy="83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550"/>
              <a:buFont typeface="DM Sans"/>
              <a:buNone/>
            </a:pPr>
            <a:r>
              <a:rPr b="0" i="0" lang="en-US" sz="55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STEP 5 — ARCHITECTURE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631908" y="651470"/>
            <a:ext cx="10927878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850"/>
              <a:buFont typeface="Dela Gothic One"/>
              <a:buNone/>
            </a:pPr>
            <a:r>
              <a:rPr b="0" i="0" lang="en-US" sz="18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So Where Does SCADA Actually Fit?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7694" y="724495"/>
            <a:ext cx="5580419" cy="535394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/>
          <p:nvPr/>
        </p:nvSpPr>
        <p:spPr>
          <a:xfrm>
            <a:off x="6212327" y="3520480"/>
            <a:ext cx="5353809" cy="148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900"/>
              <a:buFont typeface="Dela Gothic One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6811709" y="5411507"/>
            <a:ext cx="4657640" cy="295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b="1" i="0" lang="en-US" sz="105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Sensor → PLC → Protocol → TCP/IP → SCADA Driver → Tag → HMI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631908" y="1200100"/>
            <a:ext cx="509466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Let's Follow One Piece of 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Trace </a:t>
            </a:r>
            <a:r>
              <a:rPr b="1" lang="en-US" sz="12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78°C</a:t>
            </a:r>
            <a:r>
              <a:rPr lang="en-US" sz="12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from sensor to screen. At which point could it disappear?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631908" y="2002036"/>
            <a:ext cx="321560" cy="200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631909" y="2256234"/>
            <a:ext cx="1783746" cy="75448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631908" y="2374702"/>
            <a:ext cx="5392305" cy="264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ela Gothic One"/>
              <a:buNone/>
            </a:pPr>
            <a:r>
              <a:rPr b="0" i="0" lang="en-US" sz="11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Temperature Sensor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631908" y="2577172"/>
            <a:ext cx="842050" cy="185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000" u="none" cap="none" strike="noStrike">
                <a:solidFill>
                  <a:srgbClr val="FFE5E5"/>
                </a:solidFill>
                <a:latin typeface="Calibri"/>
                <a:ea typeface="Calibri"/>
                <a:cs typeface="Calibri"/>
                <a:sym typeface="Calibri"/>
              </a:rPr>
              <a:t>Reads 78°C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3880466" y="2055553"/>
            <a:ext cx="321560" cy="200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3880466" y="2361208"/>
            <a:ext cx="1013468" cy="215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ela Gothic One"/>
              <a:buNone/>
            </a:pPr>
            <a:r>
              <a:rPr b="0" i="0" lang="en-US" sz="11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PLC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3836650" y="2521490"/>
            <a:ext cx="2005031" cy="203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000" u="none" cap="none" strike="noStrike">
                <a:solidFill>
                  <a:srgbClr val="FFE5E5"/>
                </a:solidFill>
                <a:latin typeface="Calibri"/>
                <a:ea typeface="Calibri"/>
                <a:cs typeface="Calibri"/>
                <a:sym typeface="Calibri"/>
              </a:rPr>
              <a:t>Holds value in register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631908" y="3232051"/>
            <a:ext cx="321560" cy="200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631908" y="3604716"/>
            <a:ext cx="5392305" cy="264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ela Gothic One"/>
              <a:buNone/>
            </a:pPr>
            <a:r>
              <a:rPr b="0" i="0" lang="en-US" sz="11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Industrial Protocol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643500" y="3787129"/>
            <a:ext cx="1660916" cy="195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000" u="none" cap="none" strike="noStrike">
                <a:solidFill>
                  <a:srgbClr val="FFE5E5"/>
                </a:solidFill>
                <a:latin typeface="Calibri"/>
                <a:ea typeface="Calibri"/>
                <a:cs typeface="Calibri"/>
                <a:sym typeface="Calibri"/>
              </a:rPr>
              <a:t>Modbus TCP / OPC UA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3831651" y="3232051"/>
            <a:ext cx="321560" cy="200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3831651" y="3619103"/>
            <a:ext cx="5392404" cy="264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ela Gothic One"/>
              <a:buNone/>
            </a:pPr>
            <a:r>
              <a:rPr b="0" i="0" lang="en-US" sz="11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TCP / IP 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3831651" y="3779794"/>
            <a:ext cx="5392404" cy="243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000" u="none" cap="none" strike="noStrike">
                <a:solidFill>
                  <a:srgbClr val="FFE5E5"/>
                </a:solidFill>
                <a:latin typeface="Calibri"/>
                <a:ea typeface="Calibri"/>
                <a:cs typeface="Calibri"/>
                <a:sym typeface="Calibri"/>
              </a:rPr>
              <a:t>Encapsulates packet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31908" y="4462066"/>
            <a:ext cx="321560" cy="200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631908" y="4834731"/>
            <a:ext cx="5392305" cy="264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ela Gothic One"/>
              <a:buNone/>
            </a:pPr>
            <a:r>
              <a:rPr b="0" i="0" lang="en-US" sz="11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Switch → Router → Firewall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621447" y="4984406"/>
            <a:ext cx="1672508" cy="195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000" u="none" cap="none" strike="noStrike">
                <a:solidFill>
                  <a:srgbClr val="FFE5E5"/>
                </a:solidFill>
                <a:latin typeface="Calibri"/>
                <a:ea typeface="Calibri"/>
                <a:cs typeface="Calibri"/>
                <a:sym typeface="Calibri"/>
              </a:rPr>
              <a:t>Forwards or blocks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3831651" y="4462066"/>
            <a:ext cx="321560" cy="200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b="0" i="0" lang="en-US" sz="125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 rot="5400000">
            <a:off x="3464385" y="3361372"/>
            <a:ext cx="5392404" cy="1905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3804795" y="4807531"/>
            <a:ext cx="5392404" cy="264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ela Gothic One"/>
              <a:buNone/>
            </a:pPr>
            <a:r>
              <a:rPr b="0" i="0" lang="en-US" sz="11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SCADA Driver → Tag → HMI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3831651" y="4951579"/>
            <a:ext cx="1484493" cy="188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b="0" i="0" lang="en-US" sz="1000" u="none" cap="none" strike="noStrike">
                <a:solidFill>
                  <a:srgbClr val="FFE5E5"/>
                </a:solidFill>
                <a:latin typeface="Calibri"/>
                <a:ea typeface="Calibri"/>
                <a:cs typeface="Calibri"/>
                <a:sym typeface="Calibri"/>
              </a:rPr>
              <a:t>Displays value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631908" y="5707818"/>
            <a:ext cx="10927878" cy="595610"/>
          </a:xfrm>
          <a:prstGeom prst="roundRect">
            <a:avLst>
              <a:gd fmla="val 11339" name="adj"/>
            </a:avLst>
          </a:prstGeom>
          <a:solidFill>
            <a:srgbClr val="740B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One failure anywhere in this chain — and 78°C never reaches the operator.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631909" y="3446753"/>
            <a:ext cx="1783746" cy="75448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3836650" y="2258167"/>
            <a:ext cx="1783746" cy="75448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3831651" y="3445559"/>
            <a:ext cx="1783746" cy="75448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643500" y="4702419"/>
            <a:ext cx="1783746" cy="75448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3831651" y="4701364"/>
            <a:ext cx="1783746" cy="75448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/>
          <p:nvPr/>
        </p:nvSpPr>
        <p:spPr>
          <a:xfrm>
            <a:off x="3248093" y="2593836"/>
            <a:ext cx="60054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253015" y="4016305"/>
            <a:ext cx="6005400" cy="21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535"/>
              <a:buFont typeface="Dela Gothic One"/>
              <a:buNone/>
            </a:pPr>
            <a:r>
              <a:t/>
            </a:r>
            <a:endParaRPr b="0" i="0" sz="45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10393683" y="6193874"/>
            <a:ext cx="1410000" cy="419400"/>
          </a:xfrm>
          <a:prstGeom prst="rect">
            <a:avLst/>
          </a:prstGeom>
          <a:solidFill>
            <a:schemeClr val="dk1"/>
          </a:solidFill>
          <a:ln cap="flat" cmpd="sng" w="90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375" lIns="86375" spcFirstLastPara="1" rIns="86375" wrap="square" tIns="86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1"/>
              <a:buFont typeface="Arial"/>
              <a:buNone/>
            </a:pPr>
            <a:r>
              <a:t/>
            </a:r>
            <a:endParaRPr sz="170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10393683" y="6193874"/>
            <a:ext cx="1410000" cy="419400"/>
          </a:xfrm>
          <a:prstGeom prst="rect">
            <a:avLst/>
          </a:prstGeom>
          <a:solidFill>
            <a:srgbClr val="0A0909"/>
          </a:solidFill>
          <a:ln cap="flat" cmpd="sng" w="9000">
            <a:solidFill>
              <a:srgbClr val="0A09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375" lIns="86375" spcFirstLastPara="1" rIns="86375" wrap="square" tIns="86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1"/>
              <a:buFont typeface="Arial"/>
              <a:buNone/>
            </a:pPr>
            <a:r>
              <a:t/>
            </a:r>
            <a:endParaRPr sz="170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375" y="189213"/>
            <a:ext cx="11519226" cy="6479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344" y="6047828"/>
            <a:ext cx="10583289" cy="296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31743" y="801172"/>
            <a:ext cx="1655889" cy="269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344" y="1404133"/>
            <a:ext cx="3431722" cy="21868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80056" y="1404133"/>
            <a:ext cx="3431722" cy="21868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55768" y="1404133"/>
            <a:ext cx="3431862" cy="21868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4344" y="3734980"/>
            <a:ext cx="3431722" cy="21868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80056" y="3734980"/>
            <a:ext cx="3431722" cy="21868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55768" y="3734980"/>
            <a:ext cx="3431862" cy="21868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7333" y="2056590"/>
            <a:ext cx="944936" cy="8819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33045" y="2056590"/>
            <a:ext cx="944936" cy="8819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108758" y="2056590"/>
            <a:ext cx="944936" cy="8819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7333" y="4387437"/>
            <a:ext cx="944936" cy="8819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33045" y="4387437"/>
            <a:ext cx="944936" cy="8819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108758" y="4387437"/>
            <a:ext cx="944936" cy="88194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975332" y="6128823"/>
            <a:ext cx="57144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4" u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SCADA Rule:</a:t>
            </a:r>
            <a:r>
              <a:rPr b="0" i="0" lang="en-US" sz="814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Topologies dictate latency, fault isolation, and packet loss impact between PLC register &amp; HMI screen.</a:t>
            </a:r>
            <a:endParaRPr sz="1323"/>
          </a:p>
        </p:txBody>
      </p:sp>
      <p:sp>
        <p:nvSpPr>
          <p:cNvPr id="204" name="Google Shape;204;p20"/>
          <p:cNvSpPr txBox="1"/>
          <p:nvPr/>
        </p:nvSpPr>
        <p:spPr>
          <a:xfrm>
            <a:off x="804344" y="570207"/>
            <a:ext cx="39420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9" u="none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INDUSTRIAL INFRASTRUCTURE &amp; FIELD ARCHITECTURES</a:t>
            </a:r>
            <a:endParaRPr sz="1323">
              <a:solidFill>
                <a:schemeClr val="lt1"/>
              </a:solidFill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804344" y="729177"/>
            <a:ext cx="50838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6" u="none">
                <a:solidFill>
                  <a:srgbClr val="FFFFFF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Network Topologies in SCADA</a:t>
            </a:r>
            <a:endParaRPr sz="1323"/>
          </a:p>
        </p:txBody>
      </p:sp>
      <p:pic>
        <p:nvPicPr>
          <p:cNvPr descr="image.png" id="206" name="Google Shape;206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866734" y="882167"/>
            <a:ext cx="134991" cy="10799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804344" y="693179"/>
            <a:ext cx="63000" cy="630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3175" lIns="86375" spcFirstLastPara="1" rIns="86375" wrap="square" tIns="43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8" name="Google Shape;208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20329" y="2119585"/>
            <a:ext cx="818945" cy="75594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2028261" y="2392240"/>
            <a:ext cx="20547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Dedicated point-to-point connections from a central managed switch to PLCs, HMIs, and drives.</a:t>
            </a:r>
            <a:endParaRPr sz="1323"/>
          </a:p>
        </p:txBody>
      </p:sp>
      <p:sp>
        <p:nvSpPr>
          <p:cNvPr id="210" name="Google Shape;210;p20"/>
          <p:cNvSpPr txBox="1"/>
          <p:nvPr/>
        </p:nvSpPr>
        <p:spPr>
          <a:xfrm>
            <a:off x="2892203" y="2898242"/>
            <a:ext cx="11907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9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Fault isolated</a:t>
            </a:r>
            <a:r>
              <a:rPr b="0" i="0" lang="en-US" sz="779" u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779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Switch is SPOF</a:t>
            </a:r>
            <a:endParaRPr sz="1323"/>
          </a:p>
        </p:txBody>
      </p:sp>
      <p:pic>
        <p:nvPicPr>
          <p:cNvPr descr="image.png" id="211" name="Google Shape;211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596041" y="2119585"/>
            <a:ext cx="818945" cy="75594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5603973" y="2392240"/>
            <a:ext cx="20547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Devices connected in a closed circular loop. One break activates backup path in &lt;10ms recovery.</a:t>
            </a:r>
            <a:endParaRPr sz="1323"/>
          </a:p>
        </p:txBody>
      </p:sp>
      <p:sp>
        <p:nvSpPr>
          <p:cNvPr id="213" name="Google Shape;213;p20"/>
          <p:cNvSpPr txBox="1"/>
          <p:nvPr/>
        </p:nvSpPr>
        <p:spPr>
          <a:xfrm>
            <a:off x="6629904" y="2838266"/>
            <a:ext cx="102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9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High redundancy</a:t>
            </a:r>
            <a:r>
              <a:rPr b="0" i="0" lang="en-US" sz="779" u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779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Protocol setup</a:t>
            </a:r>
            <a:endParaRPr sz="1323"/>
          </a:p>
        </p:txBody>
      </p:sp>
      <p:pic>
        <p:nvPicPr>
          <p:cNvPr descr="image.png" id="214" name="Google Shape;214;p2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171753" y="2119585"/>
            <a:ext cx="818945" cy="75594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9179686" y="2243749"/>
            <a:ext cx="20550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Single backbone cable with terminating resistors and tap drops for multi-drop serial devices.</a:t>
            </a:r>
            <a:endParaRPr sz="1323"/>
          </a:p>
        </p:txBody>
      </p:sp>
      <p:sp>
        <p:nvSpPr>
          <p:cNvPr id="216" name="Google Shape;216;p20"/>
          <p:cNvSpPr txBox="1"/>
          <p:nvPr/>
        </p:nvSpPr>
        <p:spPr>
          <a:xfrm>
            <a:off x="10219257" y="2748271"/>
            <a:ext cx="101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9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Lowest cable cost</a:t>
            </a:r>
            <a:r>
              <a:rPr b="0" i="0" lang="en-US" sz="779" u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779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Trunk break halts bus</a:t>
            </a:r>
            <a:endParaRPr sz="1323"/>
          </a:p>
        </p:txBody>
      </p:sp>
      <p:pic>
        <p:nvPicPr>
          <p:cNvPr descr="image.png" id="217" name="Google Shape;217;p2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020329" y="4450433"/>
            <a:ext cx="818945" cy="75594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2028261" y="4664590"/>
            <a:ext cx="2054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Full or partial point-to-multipoint links providing dynamic self-healing data rerouting.</a:t>
            </a:r>
            <a:endParaRPr sz="1323"/>
          </a:p>
        </p:txBody>
      </p:sp>
      <p:sp>
        <p:nvSpPr>
          <p:cNvPr id="219" name="Google Shape;219;p20"/>
          <p:cNvSpPr txBox="1"/>
          <p:nvPr/>
        </p:nvSpPr>
        <p:spPr>
          <a:xfrm>
            <a:off x="2933825" y="5169113"/>
            <a:ext cx="114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9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Zero downtime</a:t>
            </a:r>
            <a:r>
              <a:rPr b="0" i="0" lang="en-US" sz="779" u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779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High wiring complexity</a:t>
            </a:r>
            <a:endParaRPr sz="1323"/>
          </a:p>
        </p:txBody>
      </p:sp>
      <p:pic>
        <p:nvPicPr>
          <p:cNvPr descr="image.png" id="220" name="Google Shape;220;p2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596041" y="4450433"/>
            <a:ext cx="818945" cy="75594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5603973" y="4664590"/>
            <a:ext cx="2054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Tiered hierarchical star dividing plant control into core, distribution, and local cell layers.</a:t>
            </a:r>
            <a:endParaRPr sz="1323"/>
          </a:p>
        </p:txBody>
      </p:sp>
      <p:sp>
        <p:nvSpPr>
          <p:cNvPr id="222" name="Google Shape;222;p20"/>
          <p:cNvSpPr txBox="1"/>
          <p:nvPr/>
        </p:nvSpPr>
        <p:spPr>
          <a:xfrm>
            <a:off x="6703025" y="5169113"/>
            <a:ext cx="95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9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Modular expansion</a:t>
            </a:r>
            <a:r>
              <a:rPr b="0" i="0" lang="en-US" sz="779" u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779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Root dependency</a:t>
            </a:r>
            <a:endParaRPr sz="1323"/>
          </a:p>
        </p:txBody>
      </p:sp>
      <p:pic>
        <p:nvPicPr>
          <p:cNvPr descr="image.png" id="223" name="Google Shape;223;p2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171753" y="4450433"/>
            <a:ext cx="818945" cy="75594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9179686" y="4664590"/>
            <a:ext cx="20550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Combines resilient Ring backbones with localized Star clusters and serial Bus gateways.</a:t>
            </a:r>
            <a:endParaRPr sz="1323"/>
          </a:p>
        </p:txBody>
      </p:sp>
      <p:sp>
        <p:nvSpPr>
          <p:cNvPr id="225" name="Google Shape;225;p20"/>
          <p:cNvSpPr txBox="1"/>
          <p:nvPr/>
        </p:nvSpPr>
        <p:spPr>
          <a:xfrm>
            <a:off x="10208711" y="5169113"/>
            <a:ext cx="1026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9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Optimized balance</a:t>
            </a:r>
            <a:r>
              <a:rPr b="0" i="0" lang="en-US" sz="779" u="non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779" u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Complex diagnostics</a:t>
            </a:r>
            <a:endParaRPr sz="1323"/>
          </a:p>
        </p:txBody>
      </p:sp>
      <p:sp>
        <p:nvSpPr>
          <p:cNvPr id="226" name="Google Shape;226;p20"/>
          <p:cNvSpPr txBox="1"/>
          <p:nvPr/>
        </p:nvSpPr>
        <p:spPr>
          <a:xfrm>
            <a:off x="2028261" y="2080016"/>
            <a:ext cx="9426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4" u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Star Topology</a:t>
            </a:r>
            <a:endParaRPr sz="1323"/>
          </a:p>
        </p:txBody>
      </p:sp>
      <p:pic>
        <p:nvPicPr>
          <p:cNvPr descr="image.png" id="227" name="Google Shape;227;p2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970806" y="2023264"/>
            <a:ext cx="1112268" cy="26998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5603973" y="2080016"/>
            <a:ext cx="978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4" u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Ring Topology</a:t>
            </a:r>
            <a:endParaRPr sz="1323"/>
          </a:p>
        </p:txBody>
      </p:sp>
      <p:pic>
        <p:nvPicPr>
          <p:cNvPr descr="image.png" id="229" name="Google Shape;229;p20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581814" y="2023264"/>
            <a:ext cx="1076974" cy="26998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9179686" y="2017020"/>
            <a:ext cx="927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4" u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Bus Topology</a:t>
            </a:r>
            <a:endParaRPr sz="1323"/>
          </a:p>
        </p:txBody>
      </p:sp>
      <p:pic>
        <p:nvPicPr>
          <p:cNvPr descr="image.png" id="231" name="Google Shape;231;p20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0316704" y="2054761"/>
            <a:ext cx="917938" cy="15299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2028261" y="4352367"/>
            <a:ext cx="933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4" u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Mesh Topology</a:t>
            </a:r>
            <a:endParaRPr sz="1323"/>
          </a:p>
        </p:txBody>
      </p:sp>
      <p:pic>
        <p:nvPicPr>
          <p:cNvPr descr="image.png" id="233" name="Google Shape;233;p20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2961385" y="4295614"/>
            <a:ext cx="1121689" cy="26998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 txBox="1"/>
          <p:nvPr/>
        </p:nvSpPr>
        <p:spPr>
          <a:xfrm>
            <a:off x="5603973" y="4265129"/>
            <a:ext cx="8388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4" u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Tree Topology</a:t>
            </a:r>
            <a:endParaRPr sz="1323"/>
          </a:p>
        </p:txBody>
      </p:sp>
      <p:pic>
        <p:nvPicPr>
          <p:cNvPr descr="image.png" id="235" name="Google Shape;235;p20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442745" y="4295614"/>
            <a:ext cx="1216042" cy="26998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/>
        </p:nvSpPr>
        <p:spPr>
          <a:xfrm>
            <a:off x="9179686" y="4265129"/>
            <a:ext cx="93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4" u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Hybrid Topology</a:t>
            </a:r>
            <a:endParaRPr sz="1323"/>
          </a:p>
        </p:txBody>
      </p:sp>
      <p:pic>
        <p:nvPicPr>
          <p:cNvPr descr="image.png" id="237" name="Google Shape;237;p20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0116607" y="4295614"/>
            <a:ext cx="1118034" cy="269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/>
          <p:nvPr/>
        </p:nvSpPr>
        <p:spPr>
          <a:xfrm>
            <a:off x="631908" y="644227"/>
            <a:ext cx="1499654" cy="205680"/>
          </a:xfrm>
          <a:prstGeom prst="roundRect">
            <a:avLst>
              <a:gd fmla="val 22121" name="adj"/>
            </a:avLst>
          </a:prstGeom>
          <a:solidFill>
            <a:srgbClr val="46070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713067" y="684808"/>
            <a:ext cx="1946921" cy="12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50"/>
              <a:buFont typeface="DM Sans"/>
              <a:buNone/>
            </a:pPr>
            <a:r>
              <a:rPr lang="en-US" sz="8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STEP 4 — ENCAPSULATION</a:t>
            </a:r>
            <a:endParaRPr sz="8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31908" y="890488"/>
            <a:ext cx="10927878" cy="445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800"/>
              <a:buFont typeface="Dela Gothic One"/>
              <a:buNone/>
            </a:pPr>
            <a:r>
              <a:rPr lang="en-US" sz="28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78°C Doesn't Travel Alone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631908" y="1488281"/>
            <a:ext cx="10927878" cy="379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None/>
            </a:pPr>
            <a:r>
              <a:rPr lang="en-US" sz="10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Every tag on a P&amp;ID is more than a number — it is a </a:t>
            </a:r>
            <a:r>
              <a:rPr b="1" lang="en-US" sz="10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complete data journey</a:t>
            </a:r>
            <a:r>
              <a:rPr lang="en-US" sz="10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from a physical process element all the way to the operator's screen. Encapsulation is the step that binds measurement, transmission, and display into one trusted signal.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7" name="Google Shape;2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2699" y="2113558"/>
            <a:ext cx="3214210" cy="3214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8" name="Google Shape;24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04439" y="2095897"/>
            <a:ext cx="677052" cy="81240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/>
          <p:nvPr/>
        </p:nvSpPr>
        <p:spPr>
          <a:xfrm>
            <a:off x="6482989" y="2231231"/>
            <a:ext cx="5083048" cy="222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ela Gothic One"/>
              <a:buNone/>
            </a:pPr>
            <a:r>
              <a:rPr lang="en-US" sz="14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Physical Process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6482989" y="2555478"/>
            <a:ext cx="5083048" cy="189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None/>
            </a:pPr>
            <a:r>
              <a:rPr lang="en-US" sz="10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Sensor measures temperature, pressure, or flow at the field device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1" name="Google Shape;25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04439" y="2908300"/>
            <a:ext cx="677052" cy="81240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/>
          <p:nvPr/>
        </p:nvSpPr>
        <p:spPr>
          <a:xfrm>
            <a:off x="6482989" y="3043634"/>
            <a:ext cx="5083048" cy="222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ela Gothic One"/>
              <a:buNone/>
            </a:pPr>
            <a:r>
              <a:rPr lang="en-US" sz="14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Signal Transmission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6482989" y="3367881"/>
            <a:ext cx="5083048" cy="189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None/>
            </a:pPr>
            <a:r>
              <a:rPr lang="en-US" sz="10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4–20 mA or digital signal travels through the I/O network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4" name="Google Shape;25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04439" y="3720703"/>
            <a:ext cx="677052" cy="81240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/>
          <p:nvPr/>
        </p:nvSpPr>
        <p:spPr>
          <a:xfrm>
            <a:off x="6482989" y="3856038"/>
            <a:ext cx="5083048" cy="222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ela Gothic One"/>
              <a:buNone/>
            </a:pPr>
            <a:r>
              <a:rPr lang="en-US" sz="14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Encapsulation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6482989" y="4180284"/>
            <a:ext cx="5083048" cy="189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None/>
            </a:pPr>
            <a:r>
              <a:rPr lang="en-US" sz="10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Tag metadata, units, alarms, and scaling are bound to the raw value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7" name="Google Shape;25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04439" y="4533106"/>
            <a:ext cx="677052" cy="81240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/>
          <p:nvPr/>
        </p:nvSpPr>
        <p:spPr>
          <a:xfrm>
            <a:off x="6482989" y="4668441"/>
            <a:ext cx="5083048" cy="222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ela Gothic One"/>
              <a:buNone/>
            </a:pPr>
            <a:r>
              <a:rPr lang="en-US" sz="14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Operator Screen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6482989" y="4992687"/>
            <a:ext cx="5083048" cy="189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M Sans"/>
              <a:buNone/>
            </a:pPr>
            <a:r>
              <a:rPr lang="en-US" sz="10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Engineered value displayed with full context on the HMI/SCADA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631908" y="5573911"/>
            <a:ext cx="10927878" cy="639763"/>
          </a:xfrm>
          <a:prstGeom prst="roundRect">
            <a:avLst>
              <a:gd fmla="val 8890" name="adj"/>
            </a:avLst>
          </a:prstGeom>
          <a:solidFill>
            <a:srgbClr val="740B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1" name="Google Shape;26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7239" y="5717778"/>
            <a:ext cx="169263" cy="13533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1"/>
          <p:cNvSpPr/>
          <p:nvPr/>
        </p:nvSpPr>
        <p:spPr>
          <a:xfrm>
            <a:off x="1071833" y="5709245"/>
            <a:ext cx="10352622" cy="379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DM Sans"/>
              <a:buNone/>
            </a:pPr>
            <a:r>
              <a:rPr b="1" lang="en-US" sz="10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Key Insight:</a:t>
            </a:r>
            <a:r>
              <a:rPr lang="en-US" sz="10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Without encapsulation, a raw signal is just a number. Encapsulation gives it meaning, units, alarm limits, and traceability — turning data into actionable information.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/>
          <p:nvPr/>
        </p:nvSpPr>
        <p:spPr>
          <a:xfrm>
            <a:off x="631908" y="737195"/>
            <a:ext cx="5267789" cy="1586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300"/>
              <a:buFont typeface="Dela Gothic One"/>
              <a:buNone/>
            </a:pPr>
            <a:r>
              <a:rPr lang="en-US" sz="33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Diagnostic Workflow: Ping Succeeds, TCP Fails</a:t>
            </a:r>
            <a:endParaRPr sz="3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631908" y="2467173"/>
            <a:ext cx="5267789" cy="729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None/>
            </a:pPr>
            <a:r>
              <a:rPr lang="en-US" sz="12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This is the </a:t>
            </a:r>
            <a:r>
              <a:rPr b="1" lang="en-US" sz="12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most common scenario</a:t>
            </a:r>
            <a:r>
              <a:rPr lang="en-US" sz="12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in SCADA troubleshooting: the network path is clear, but the application layer is blocked. Don't stop at ping.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631908" y="3339902"/>
            <a:ext cx="5267789" cy="264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650"/>
              <a:buFont typeface="Dela Gothic One"/>
              <a:buNone/>
            </a:pPr>
            <a:r>
              <a:rPr lang="en-US" sz="16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What each result tells you</a:t>
            </a:r>
            <a:endParaRPr sz="16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631908" y="3747591"/>
            <a:ext cx="5267789" cy="1072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b="1" lang="en-US" sz="12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Ping succeeds</a:t>
            </a:r>
            <a:r>
              <a:rPr lang="en-US" sz="12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→ Layer 3 (IP routing) is fully functional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b="1" lang="en-US" sz="12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TCP connection refused</a:t>
            </a:r>
            <a:r>
              <a:rPr lang="en-US" sz="12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→ No service is listening on that port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M Sans"/>
              <a:buChar char="•"/>
            </a:pPr>
            <a:r>
              <a:rPr b="1" lang="en-US" sz="12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TCP connection </a:t>
            </a:r>
            <a:r>
              <a:rPr b="1" lang="en-US" sz="12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timeout</a:t>
            </a:r>
            <a:r>
              <a:rPr lang="en-US" sz="12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→ Firewall is silently dropping the SYN packet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631908" y="4963716"/>
            <a:ext cx="5267789" cy="264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650"/>
              <a:buFont typeface="Dela Gothic One"/>
              <a:buNone/>
            </a:pPr>
            <a:r>
              <a:rPr lang="en-US" sz="16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Next Steps</a:t>
            </a:r>
            <a:endParaRPr sz="16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631908" y="5371405"/>
            <a:ext cx="5267789" cy="8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6"/>
              <a:buFont typeface="DM Sans"/>
              <a:buChar char="•"/>
            </a:pPr>
            <a:r>
              <a:rPr lang="en-US" sz="1156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Check firewall ACLs — is port 502 (or 4840) explicitly permitted?</a:t>
            </a:r>
            <a:endParaRPr sz="1156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6"/>
              <a:buFont typeface="DM Sans"/>
              <a:buChar char="•"/>
            </a:pPr>
            <a:r>
              <a:rPr lang="en-US" sz="1156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Verify the service is running on the PLC or server</a:t>
            </a:r>
            <a:endParaRPr sz="1156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6"/>
              <a:buFont typeface="DM Sans"/>
              <a:buChar char="•"/>
            </a:pPr>
            <a:r>
              <a:rPr lang="en-US" sz="1156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Use </a:t>
            </a:r>
            <a:r>
              <a:rPr lang="en-US" sz="1156">
                <a:solidFill>
                  <a:srgbClr val="FFE5E5"/>
                </a:solidFill>
                <a:highlight>
                  <a:srgbClr val="171717"/>
                </a:highlight>
                <a:latin typeface="Consolas"/>
                <a:ea typeface="Consolas"/>
                <a:cs typeface="Consolas"/>
                <a:sym typeface="Consolas"/>
              </a:rPr>
              <a:t>telnet &lt;ip&gt; &lt;port&gt;</a:t>
            </a:r>
            <a:r>
              <a:rPr lang="en-US" sz="1156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or </a:t>
            </a:r>
            <a:r>
              <a:rPr lang="en-US" sz="1156">
                <a:solidFill>
                  <a:srgbClr val="FFE5E5"/>
                </a:solidFill>
                <a:highlight>
                  <a:srgbClr val="171717"/>
                </a:highlight>
                <a:latin typeface="Consolas"/>
                <a:ea typeface="Consolas"/>
                <a:cs typeface="Consolas"/>
                <a:sym typeface="Consolas"/>
              </a:rPr>
              <a:t>nc -zv</a:t>
            </a:r>
            <a:r>
              <a:rPr lang="en-US" sz="1156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to test port reachability directly</a:t>
            </a:r>
            <a:endParaRPr sz="1156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4" name="Google Shape;2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8348" y="795040"/>
            <a:ext cx="5267789" cy="5267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"/>
          <p:cNvSpPr/>
          <p:nvPr/>
        </p:nvSpPr>
        <p:spPr>
          <a:xfrm>
            <a:off x="631908" y="627955"/>
            <a:ext cx="10927878" cy="1187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700"/>
              <a:buFont typeface="Dela Gothic One"/>
              <a:buNone/>
            </a:pPr>
            <a:r>
              <a:rPr lang="en-US" sz="37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VLANs: Logical Segmentation on Shared Infrastructure</a:t>
            </a:r>
            <a:endParaRPr sz="3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631908" y="2267049"/>
            <a:ext cx="5243679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850"/>
              <a:buFont typeface="Dela Gothic One"/>
              <a:buNone/>
            </a:pPr>
            <a:r>
              <a:rPr lang="en-US" sz="18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Typical SCADA VLAN Layout</a:t>
            </a:r>
            <a:endParaRPr sz="18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2" name="Google Shape;282;p23"/>
          <p:cNvGraphicFramePr/>
          <p:nvPr/>
        </p:nvGraphicFramePr>
        <p:xfrm>
          <a:off x="631908" y="2767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{798A1B4C-FCDE-41CE-B8D6-93394B903F3C}</a:tableStyleId>
              </a:tblPr>
              <a:tblGrid>
                <a:gridCol w="1747900"/>
                <a:gridCol w="1747900"/>
                <a:gridCol w="1747900"/>
              </a:tblGrid>
              <a:tr h="521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E5E5"/>
                        </a:buClr>
                        <a:buSzPts val="1400"/>
                        <a:buFont typeface="DM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E5E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VLAN</a:t>
                      </a:r>
                      <a:endParaRPr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" marB="6350" marR="180550" marL="180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E5E5"/>
                        </a:buClr>
                        <a:buSzPts val="1400"/>
                        <a:buFont typeface="DM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E5E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Segment</a:t>
                      </a:r>
                      <a:endParaRPr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" marB="6350" marR="180550" marL="180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E5E5"/>
                        </a:buClr>
                        <a:buSzPts val="1400"/>
                        <a:buFont typeface="DM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E5E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Typical Hosts</a:t>
                      </a:r>
                      <a:endParaRPr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" marB="6350" marR="180550" marL="180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E5E5"/>
                        </a:buClr>
                        <a:buSzPts val="1400"/>
                        <a:buFont typeface="DM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FFE5E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VLAN 10</a:t>
                      </a:r>
                      <a:endParaRPr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" marB="6350" marR="180550" marL="180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E5E5"/>
                        </a:buClr>
                        <a:buSzPts val="1400"/>
                        <a:buFont typeface="DM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FFE5E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Control</a:t>
                      </a:r>
                      <a:endParaRPr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" marB="6350" marR="180550" marL="180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E5E5"/>
                        </a:buClr>
                        <a:buSzPts val="1400"/>
                        <a:buFont typeface="DM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FFE5E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PLCs, RTUs, sensors</a:t>
                      </a:r>
                      <a:endParaRPr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" marB="6350" marR="180550" marL="180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E5E5"/>
                        </a:buClr>
                        <a:buSzPts val="1400"/>
                        <a:buFont typeface="DM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FFE5E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VLAN 20</a:t>
                      </a:r>
                      <a:endParaRPr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" marB="6350" marR="180550" marL="180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E5E5"/>
                        </a:buClr>
                        <a:buSzPts val="1400"/>
                        <a:buFont typeface="DM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FFE5E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HMI / SCADA</a:t>
                      </a:r>
                      <a:endParaRPr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" marB="6350" marR="180550" marL="180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E5E5"/>
                        </a:buClr>
                        <a:buSzPts val="1400"/>
                        <a:buFont typeface="DM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FFE5E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Operator workstations</a:t>
                      </a:r>
                      <a:endParaRPr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" marB="6350" marR="180550" marL="180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E5E5"/>
                        </a:buClr>
                        <a:buSzPts val="1400"/>
                        <a:buFont typeface="DM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FFE5E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VLAN 30</a:t>
                      </a:r>
                      <a:endParaRPr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" marB="6350" marR="180550" marL="180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E5E5"/>
                        </a:buClr>
                        <a:buSzPts val="1400"/>
                        <a:buFont typeface="DM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FFE5E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Servers</a:t>
                      </a:r>
                      <a:endParaRPr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" marB="6350" marR="180550" marL="180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E5E5"/>
                        </a:buClr>
                        <a:buSzPts val="1400"/>
                        <a:buFont typeface="DM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FFE5E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Historian, application servers</a:t>
                      </a:r>
                      <a:endParaRPr sz="14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" marB="6350" marR="180550" marL="180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3" name="Google Shape;283;p23"/>
          <p:cNvSpPr/>
          <p:nvPr/>
        </p:nvSpPr>
        <p:spPr>
          <a:xfrm>
            <a:off x="631908" y="3277011"/>
            <a:ext cx="5243679" cy="11284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631908" y="4090386"/>
            <a:ext cx="5243679" cy="11284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631908" y="4903761"/>
            <a:ext cx="5243679" cy="11284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6322457" y="2267049"/>
            <a:ext cx="5243679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850"/>
              <a:buFont typeface="Dela Gothic One"/>
              <a:buNone/>
            </a:pPr>
            <a:r>
              <a:rPr lang="en-US" sz="18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The Silent Killer: VLAN Misconfiguration</a:t>
            </a:r>
            <a:endParaRPr sz="18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6322457" y="3041253"/>
            <a:ext cx="5243679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None/>
            </a:pPr>
            <a:r>
              <a:rPr lang="en-US" sz="14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device can be </a:t>
            </a:r>
            <a:r>
              <a:rPr b="1" lang="en-US" sz="14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physically connected and show a link light</a:t>
            </a:r>
            <a:r>
              <a:rPr lang="en-US" sz="14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while being logically isolated on the wrong VLAN — unable to reach any of its intended services.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6322457" y="4070449"/>
            <a:ext cx="5243679" cy="1859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4480" lvl="0" marL="28448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14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Segmentation creates security boundaries; routing and firewalls decide what may cross them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480" lvl="0" marL="28448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14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Always verify switch port VLAN membership when a device "appears connected but can't reach anything"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480" lvl="0" marL="28448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00"/>
              <a:buFont typeface="DM Sans"/>
              <a:buChar char="•"/>
            </a:pPr>
            <a:r>
              <a:rPr lang="en-US" sz="14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Inter-VLAN traffic requires an explicit routing policy — never assume it flows freely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"/>
          <p:cNvSpPr/>
          <p:nvPr/>
        </p:nvSpPr>
        <p:spPr>
          <a:xfrm>
            <a:off x="310524" y="573692"/>
            <a:ext cx="69609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400"/>
              <a:buFont typeface="Dela Gothic One"/>
              <a:buNone/>
            </a:pPr>
            <a:r>
              <a:rPr lang="en-US" sz="34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Wireshark: Making Invisible Packets Visible</a:t>
            </a:r>
            <a:endParaRPr sz="3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310474" y="1668688"/>
            <a:ext cx="69609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None/>
            </a:pPr>
            <a:r>
              <a:rPr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Wireshark reveals what the network </a:t>
            </a:r>
            <a:r>
              <a:rPr i="1"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actually</a:t>
            </a:r>
            <a:r>
              <a:rPr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sees — not what you believe it should see. It is the ground truth tool for SCADA network diagnostics.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310474" y="2341900"/>
            <a:ext cx="69609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700"/>
              <a:buFont typeface="Dela Gothic One"/>
              <a:buNone/>
            </a:pPr>
            <a:r>
              <a:rPr lang="en-US" sz="17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Inspect Each Layer</a:t>
            </a:r>
            <a:endParaRPr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310475" y="2690150"/>
            <a:ext cx="56589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4160" lvl="0" marL="26416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Char char="•"/>
            </a:pPr>
            <a:r>
              <a:rPr b="1"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Ethernet</a:t>
            </a:r>
            <a:r>
              <a:rPr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Source and destination MAC addresses; confirm ARP resolution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4160" lvl="0" marL="26416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Char char="•"/>
            </a:pPr>
            <a:r>
              <a:rPr b="1"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IP</a:t>
            </a:r>
            <a:r>
              <a:rPr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Verify correct source/destination IPs; catch routing errors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4160" lvl="0" marL="26416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Char char="•"/>
            </a:pPr>
            <a:r>
              <a:rPr b="1"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TCP/UDP</a:t>
            </a:r>
            <a:r>
              <a:rPr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Confirm expected ports; spot retransmissions and resets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4160" lvl="0" marL="26416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Char char="•"/>
            </a:pPr>
            <a:r>
              <a:rPr b="1"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Application</a:t>
            </a:r>
            <a:r>
              <a:rPr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— Validate Modbus function codes, OPC UA handshakes, protocol responses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310474" y="4640388"/>
            <a:ext cx="69609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700"/>
              <a:buFont typeface="Dela Gothic One"/>
              <a:buNone/>
            </a:pPr>
            <a:r>
              <a:rPr lang="en-US" sz="17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What to Look For</a:t>
            </a:r>
            <a:endParaRPr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310524" y="5054075"/>
            <a:ext cx="69609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4160" lvl="0" marL="26416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Char char="•"/>
            </a:pPr>
            <a:r>
              <a:rPr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TCP RST packets — connection actively refused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4160" lvl="0" marL="26416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Char char="•"/>
            </a:pPr>
            <a:r>
              <a:rPr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SYN with no SYN-ACK — firewall silently dropping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4160" lvl="0" marL="26416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Char char="•"/>
            </a:pPr>
            <a:r>
              <a:rPr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Excessive retransmissions — packet loss or congestion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4160" lvl="0" marL="26416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Char char="•"/>
            </a:pPr>
            <a:r>
              <a:rPr lang="en-US"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Malformed protocol frames — misconfigured driver or firmware bug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3300" y="2039075"/>
            <a:ext cx="6117374" cy="32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/>
          <p:nvPr/>
        </p:nvSpPr>
        <p:spPr>
          <a:xfrm>
            <a:off x="10644700" y="6355350"/>
            <a:ext cx="1492500" cy="444000"/>
          </a:xfrm>
          <a:prstGeom prst="rect">
            <a:avLst/>
          </a:prstGeom>
          <a:solidFill>
            <a:srgbClr val="0A0909"/>
          </a:solidFill>
          <a:ln cap="flat" cmpd="sng" w="9525">
            <a:solidFill>
              <a:srgbClr val="0A09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740B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631908" y="496491"/>
            <a:ext cx="465820" cy="137021"/>
          </a:xfrm>
          <a:prstGeom prst="roundRect">
            <a:avLst>
              <a:gd fmla="val 22137" name="adj"/>
            </a:avLst>
          </a:prstGeom>
          <a:noFill/>
          <a:ln cap="flat" cmpd="sng" w="9525">
            <a:solidFill>
              <a:srgbClr val="C913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685981" y="523478"/>
            <a:ext cx="967259" cy="83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550"/>
              <a:buFont typeface="DM Sans"/>
              <a:buNone/>
            </a:pPr>
            <a:r>
              <a:rPr b="0" i="0" lang="en-US" sz="550" u="none" cap="none" strike="noStrike">
                <a:solidFill>
                  <a:srgbClr val="C91313"/>
                </a:solidFill>
                <a:latin typeface="DM Sans"/>
                <a:ea typeface="DM Sans"/>
                <a:cs typeface="DM Sans"/>
                <a:sym typeface="DM Sans"/>
              </a:rPr>
              <a:t>TAKEAWAY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6" name="Google Shape;31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908" y="1066701"/>
            <a:ext cx="5353809" cy="535394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6"/>
          <p:cNvSpPr/>
          <p:nvPr/>
        </p:nvSpPr>
        <p:spPr>
          <a:xfrm>
            <a:off x="6347658" y="3615035"/>
            <a:ext cx="5828063" cy="108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6212327" y="3574455"/>
            <a:ext cx="12700" cy="189508"/>
          </a:xfrm>
          <a:prstGeom prst="roundRect">
            <a:avLst>
              <a:gd fmla="val 49999" name="adj"/>
            </a:avLst>
          </a:prstGeom>
          <a:solidFill>
            <a:srgbClr val="C913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631908" y="651470"/>
            <a:ext cx="10927878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850"/>
              <a:buFont typeface="Dela Gothic One"/>
              <a:buNone/>
            </a:pPr>
            <a:r>
              <a:rPr b="0" i="0" lang="en-US" sz="18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You Don't Need to Memorize Networking. Follow the Data.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6212327" y="3814663"/>
            <a:ext cx="5963394" cy="108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631908" y="6420662"/>
            <a:ext cx="109278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550"/>
              <a:buFont typeface="Dela Gothic One"/>
              <a:buNone/>
            </a:pPr>
            <a:r>
              <a:rPr b="0" i="0" lang="en-US" sz="2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Questions?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2" name="Google Shape;32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9997" y="501253"/>
            <a:ext cx="4391510" cy="5855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