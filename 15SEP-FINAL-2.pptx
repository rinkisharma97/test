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2000"/>
  <p:notesSz cx="6858000" cy="12192000"/>
  <p:embeddedFontLst>
    <p:embeddedFont>
      <p:font typeface="Roboto"/>
      <p:regular r:id="rId17"/>
      <p:bold r:id="rId18"/>
      <p:italic r:id="rId19"/>
      <p:boldItalic r:id="rId20"/>
    </p:embeddedFont>
    <p:embeddedFont>
      <p:font typeface="Dela Gothic One"/>
      <p:regular r:id="rId21"/>
    </p:embeddedFont>
    <p:embeddedFont>
      <p:font typeface="DM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9AFB725-18CF-4B91-9796-50FC56E159CE}">
  <a:tblStyle styleId="{29AFB725-18CF-4B91-9796-50FC56E159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boldItalic.fntdata"/><Relationship Id="rId22" Type="http://schemas.openxmlformats.org/officeDocument/2006/relationships/font" Target="fonts/DMSans-regular.fntdata"/><Relationship Id="rId21" Type="http://schemas.openxmlformats.org/officeDocument/2006/relationships/font" Target="fonts/DelaGothicOne-regular.fntdata"/><Relationship Id="rId24" Type="http://schemas.openxmlformats.org/officeDocument/2006/relationships/font" Target="fonts/DMSans-italic.fntdata"/><Relationship Id="rId23" Type="http://schemas.openxmlformats.org/officeDocument/2006/relationships/font" Target="fonts/DMSans-bold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DM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oboto-regular.fntdata"/><Relationship Id="rId16" Type="http://schemas.openxmlformats.org/officeDocument/2006/relationships/slide" Target="slides/slide11.xml"/><Relationship Id="rId19" Type="http://schemas.openxmlformats.org/officeDocument/2006/relationships/font" Target="fonts/Roboto-italic.fntdata"/><Relationship Id="rId18" Type="http://schemas.openxmlformats.org/officeDocument/2006/relationships/font" Target="fonts/Robot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" name="Google Shape;7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master 1">
  <p:cSld name="Slide master 1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 flipH="1">
            <a:off x="10995300" y="5661233"/>
            <a:ext cx="1196700" cy="11967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3"/>
          <p:cNvSpPr/>
          <p:nvPr/>
        </p:nvSpPr>
        <p:spPr>
          <a:xfrm flipH="1">
            <a:off x="10995300" y="5661167"/>
            <a:ext cx="1196700" cy="1196700"/>
          </a:xfrm>
          <a:prstGeom prst="round1Rect">
            <a:avLst>
              <a:gd fmla="val 16667" name="adj"/>
            </a:avLst>
          </a:prstGeom>
          <a:solidFill>
            <a:schemeClr val="lt1">
              <a:alpha val="68235"/>
            </a:scheme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/>
          <p:nvPr>
            <p:ph type="ctrTitle"/>
          </p:nvPr>
        </p:nvSpPr>
        <p:spPr>
          <a:xfrm>
            <a:off x="520700" y="2425700"/>
            <a:ext cx="10962900" cy="12447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520700" y="3718840"/>
            <a:ext cx="109629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614600" y="2753800"/>
            <a:ext cx="10962900" cy="135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 flipH="1" rot="10800000">
            <a:off x="0" y="2247900"/>
            <a:ext cx="12192000" cy="461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5"/>
          <p:cNvSpPr/>
          <p:nvPr/>
        </p:nvSpPr>
        <p:spPr>
          <a:xfrm>
            <a:off x="0" y="2248000"/>
            <a:ext cx="121920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629200" y="984967"/>
            <a:ext cx="109629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629200" y="2558767"/>
            <a:ext cx="10962900" cy="36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 flipH="1" rot="10800000">
            <a:off x="0" y="2247900"/>
            <a:ext cx="12192000" cy="4610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6"/>
          <p:cNvSpPr/>
          <p:nvPr/>
        </p:nvSpPr>
        <p:spPr>
          <a:xfrm>
            <a:off x="0" y="2248000"/>
            <a:ext cx="121920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6"/>
          <p:cNvSpPr txBox="1"/>
          <p:nvPr>
            <p:ph type="title"/>
          </p:nvPr>
        </p:nvSpPr>
        <p:spPr>
          <a:xfrm>
            <a:off x="629200" y="984967"/>
            <a:ext cx="109629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300"/>
              <a:buNone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" type="body"/>
          </p:nvPr>
        </p:nvSpPr>
        <p:spPr>
          <a:xfrm>
            <a:off x="629200" y="2558767"/>
            <a:ext cx="5333100" cy="36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4" name="Google Shape;34;p6"/>
          <p:cNvSpPr txBox="1"/>
          <p:nvPr>
            <p:ph idx="2" type="body"/>
          </p:nvPr>
        </p:nvSpPr>
        <p:spPr>
          <a:xfrm>
            <a:off x="6259000" y="2558767"/>
            <a:ext cx="5333100" cy="36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 flipH="1" rot="10800000">
            <a:off x="0" y="875100"/>
            <a:ext cx="12192000" cy="5982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7"/>
          <p:cNvSpPr/>
          <p:nvPr/>
        </p:nvSpPr>
        <p:spPr>
          <a:xfrm>
            <a:off x="0" y="875133"/>
            <a:ext cx="121920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7"/>
          <p:cNvSpPr txBox="1"/>
          <p:nvPr>
            <p:ph type="title"/>
          </p:nvPr>
        </p:nvSpPr>
        <p:spPr>
          <a:xfrm>
            <a:off x="131000" y="21800"/>
            <a:ext cx="11768700" cy="80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/>
        </p:nvSpPr>
        <p:spPr>
          <a:xfrm flipH="1" rot="10800000">
            <a:off x="4368800" y="33"/>
            <a:ext cx="78231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8"/>
          <p:cNvSpPr/>
          <p:nvPr/>
        </p:nvSpPr>
        <p:spPr>
          <a:xfrm rot="-5400000">
            <a:off x="1012250" y="3356550"/>
            <a:ext cx="68580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8"/>
          <p:cNvSpPr txBox="1"/>
          <p:nvPr>
            <p:ph type="title"/>
          </p:nvPr>
        </p:nvSpPr>
        <p:spPr>
          <a:xfrm>
            <a:off x="301437" y="477067"/>
            <a:ext cx="37440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45" name="Google Shape;45;p8"/>
          <p:cNvSpPr txBox="1"/>
          <p:nvPr>
            <p:ph idx="1" type="body"/>
          </p:nvPr>
        </p:nvSpPr>
        <p:spPr>
          <a:xfrm>
            <a:off x="301433" y="1954400"/>
            <a:ext cx="3744000" cy="4218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indent="-3302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2pPr>
            <a:lvl3pPr indent="-3302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3pPr>
            <a:lvl4pPr indent="-3302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4pPr>
            <a:lvl5pPr indent="-3302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5pPr>
            <a:lvl6pPr indent="-3302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6pPr>
            <a:lvl7pPr indent="-3302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7pPr>
            <a:lvl8pPr indent="-3302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○"/>
              <a:defRPr sz="1600">
                <a:solidFill>
                  <a:schemeClr val="lt1"/>
                </a:solidFill>
              </a:defRPr>
            </a:lvl8pPr>
            <a:lvl9pPr indent="-3302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Char char="■"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8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/>
          <p:nvPr>
            <p:ph type="title"/>
          </p:nvPr>
        </p:nvSpPr>
        <p:spPr>
          <a:xfrm>
            <a:off x="653667" y="651000"/>
            <a:ext cx="8302800" cy="545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 flipH="1">
            <a:off x="0" y="0"/>
            <a:ext cx="6096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"/>
          <p:cNvSpPr/>
          <p:nvPr/>
        </p:nvSpPr>
        <p:spPr>
          <a:xfrm rot="5400000">
            <a:off x="2595233" y="3356900"/>
            <a:ext cx="6857100" cy="1449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0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600"/>
              <a:buNone/>
              <a:defRPr sz="5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54" name="Google Shape;54;p10"/>
          <p:cNvSpPr txBox="1"/>
          <p:nvPr>
            <p:ph idx="1" type="subTitle"/>
          </p:nvPr>
        </p:nvSpPr>
        <p:spPr>
          <a:xfrm>
            <a:off x="354000" y="3705956"/>
            <a:ext cx="5393700" cy="16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5" name="Google Shape;55;p10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indent="-34925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indent="-34925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indent="-34925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indent="-34925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indent="-34925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indent="-34925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indent="-34925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indent="-34925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6" name="Google Shape;56;p10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/>
          <p:nvPr/>
        </p:nvSpPr>
        <p:spPr>
          <a:xfrm flipH="1" rot="10800000">
            <a:off x="0" y="-100"/>
            <a:ext cx="12192000" cy="6261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1"/>
          <p:cNvSpPr/>
          <p:nvPr/>
        </p:nvSpPr>
        <p:spPr>
          <a:xfrm flipH="1" rot="10800000">
            <a:off x="0" y="6163733"/>
            <a:ext cx="12192000" cy="987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76200" y="6262433"/>
            <a:ext cx="11175900" cy="59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hasCustomPrompt="1" type="title"/>
          </p:nvPr>
        </p:nvSpPr>
        <p:spPr>
          <a:xfrm>
            <a:off x="634000" y="1678033"/>
            <a:ext cx="10962900" cy="26181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0"/>
              <a:buNone/>
              <a:defRPr sz="16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2"/>
          <p:cNvSpPr txBox="1"/>
          <p:nvPr>
            <p:ph idx="1" type="body"/>
          </p:nvPr>
        </p:nvSpPr>
        <p:spPr>
          <a:xfrm>
            <a:off x="634000" y="4406167"/>
            <a:ext cx="10962900" cy="1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29200" y="984967"/>
            <a:ext cx="10962900" cy="1023600"/>
          </a:xfrm>
          <a:prstGeom prst="rect">
            <a:avLst/>
          </a:prstGeom>
          <a:noFill/>
          <a:ln>
            <a:noFill/>
          </a:ln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300"/>
              <a:buFont typeface="Roboto"/>
              <a:buNone/>
              <a:defRPr b="0" i="0" sz="43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29200" y="2558767"/>
            <a:ext cx="10962900" cy="361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Roboto"/>
              <a:buChar char="●"/>
              <a:defRPr b="0" i="0" sz="24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492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○"/>
              <a:defRPr b="0" i="0" sz="19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4925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■"/>
              <a:defRPr b="0" i="0" sz="19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4925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●"/>
              <a:defRPr b="0" i="0" sz="19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4925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○"/>
              <a:defRPr b="0" i="0" sz="19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4925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■"/>
              <a:defRPr b="0" i="0" sz="19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4925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●"/>
              <a:defRPr b="0" i="0" sz="19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4925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○"/>
              <a:defRPr b="0" i="0" sz="19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4925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Font typeface="Roboto"/>
              <a:buChar char="■"/>
              <a:defRPr b="0" i="0" sz="19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11364722" y="6260831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20" Type="http://schemas.openxmlformats.org/officeDocument/2006/relationships/image" Target="../media/image18.png"/><Relationship Id="rId22" Type="http://schemas.openxmlformats.org/officeDocument/2006/relationships/image" Target="../media/image19.png"/><Relationship Id="rId21" Type="http://schemas.openxmlformats.org/officeDocument/2006/relationships/image" Target="../media/image32.png"/><Relationship Id="rId24" Type="http://schemas.openxmlformats.org/officeDocument/2006/relationships/image" Target="../media/image37.png"/><Relationship Id="rId23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3.png"/><Relationship Id="rId26" Type="http://schemas.openxmlformats.org/officeDocument/2006/relationships/image" Target="../media/image25.png"/><Relationship Id="rId25" Type="http://schemas.openxmlformats.org/officeDocument/2006/relationships/image" Target="../media/image35.png"/><Relationship Id="rId27" Type="http://schemas.openxmlformats.org/officeDocument/2006/relationships/image" Target="../media/image33.png"/><Relationship Id="rId5" Type="http://schemas.openxmlformats.org/officeDocument/2006/relationships/image" Target="../media/image4.png"/><Relationship Id="rId6" Type="http://schemas.openxmlformats.org/officeDocument/2006/relationships/image" Target="../media/image8.png"/><Relationship Id="rId7" Type="http://schemas.openxmlformats.org/officeDocument/2006/relationships/image" Target="../media/image34.png"/><Relationship Id="rId8" Type="http://schemas.openxmlformats.org/officeDocument/2006/relationships/image" Target="../media/image21.png"/><Relationship Id="rId11" Type="http://schemas.openxmlformats.org/officeDocument/2006/relationships/image" Target="../media/image20.png"/><Relationship Id="rId10" Type="http://schemas.openxmlformats.org/officeDocument/2006/relationships/image" Target="../media/image14.png"/><Relationship Id="rId13" Type="http://schemas.openxmlformats.org/officeDocument/2006/relationships/image" Target="../media/image10.png"/><Relationship Id="rId12" Type="http://schemas.openxmlformats.org/officeDocument/2006/relationships/image" Target="../media/image9.png"/><Relationship Id="rId15" Type="http://schemas.openxmlformats.org/officeDocument/2006/relationships/image" Target="../media/image15.png"/><Relationship Id="rId14" Type="http://schemas.openxmlformats.org/officeDocument/2006/relationships/image" Target="../media/image13.png"/><Relationship Id="rId17" Type="http://schemas.openxmlformats.org/officeDocument/2006/relationships/image" Target="../media/image22.png"/><Relationship Id="rId16" Type="http://schemas.openxmlformats.org/officeDocument/2006/relationships/image" Target="../media/image16.png"/><Relationship Id="rId19" Type="http://schemas.openxmlformats.org/officeDocument/2006/relationships/image" Target="../media/image17.png"/><Relationship Id="rId18" Type="http://schemas.openxmlformats.org/officeDocument/2006/relationships/image" Target="../media/image2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jpg"/><Relationship Id="rId4" Type="http://schemas.openxmlformats.org/officeDocument/2006/relationships/image" Target="../media/image31.png"/><Relationship Id="rId5" Type="http://schemas.openxmlformats.org/officeDocument/2006/relationships/image" Target="../media/image27.png"/><Relationship Id="rId6" Type="http://schemas.openxmlformats.org/officeDocument/2006/relationships/image" Target="../media/image30.png"/><Relationship Id="rId7" Type="http://schemas.openxmlformats.org/officeDocument/2006/relationships/image" Target="../media/image29.png"/><Relationship Id="rId8" Type="http://schemas.openxmlformats.org/officeDocument/2006/relationships/image" Target="../media/image2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9.jp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/>
          <p:nvPr/>
        </p:nvSpPr>
        <p:spPr>
          <a:xfrm>
            <a:off x="3081776" y="2545060"/>
            <a:ext cx="6355993" cy="5246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4" name="Google Shape;7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4238" y="227388"/>
            <a:ext cx="11383524" cy="6403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0" name="Google Shape;8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4571886" cy="6857998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5"/>
          <p:cNvSpPr/>
          <p:nvPr/>
        </p:nvSpPr>
        <p:spPr>
          <a:xfrm>
            <a:off x="5203794" y="502543"/>
            <a:ext cx="1977000" cy="257100"/>
          </a:xfrm>
          <a:prstGeom prst="roundRect">
            <a:avLst>
              <a:gd fmla="val 22123" name="adj"/>
            </a:avLst>
          </a:prstGeom>
          <a:solidFill>
            <a:srgbClr val="4607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5"/>
          <p:cNvSpPr/>
          <p:nvPr/>
        </p:nvSpPr>
        <p:spPr>
          <a:xfrm>
            <a:off x="5305292" y="553244"/>
            <a:ext cx="2383500" cy="1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b="0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INTERNAL INCIDENT REPORT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5190580" y="823020"/>
            <a:ext cx="6356100" cy="22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500"/>
              <a:buFont typeface="Dela Gothic One"/>
              <a:buNone/>
            </a:pPr>
            <a:r>
              <a:rPr b="0" i="0" lang="en-US" sz="35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The PLC is Healthy. SCADA is Healthy. So Why Can't We See the Data?</a:t>
            </a:r>
            <a:endParaRPr b="0" i="0" sz="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5"/>
          <p:cNvSpPr/>
          <p:nvPr/>
        </p:nvSpPr>
        <p:spPr>
          <a:xfrm>
            <a:off x="5203794" y="3287911"/>
            <a:ext cx="63561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None/>
            </a:pPr>
            <a:r>
              <a:rPr b="1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Bearing Temperature Sensor = 78°C</a:t>
            </a: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· SCADA displays: </a:t>
            </a:r>
            <a:r>
              <a:rPr b="0" i="0" lang="en-US" sz="1300" u="none" cap="none" strike="noStrik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COMMUNICATION FAILURE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5203794" y="4050605"/>
            <a:ext cx="6356100" cy="23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4800"/>
              <a:buFont typeface="Dela Gothic One"/>
              <a:buNone/>
            </a:pPr>
            <a:r>
              <a:rPr b="0" i="0" lang="en-US" sz="48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WHERE DID THE COMMUNICATION BREAK?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6"/>
          <p:cNvSpPr/>
          <p:nvPr/>
        </p:nvSpPr>
        <p:spPr>
          <a:xfrm>
            <a:off x="631908" y="526157"/>
            <a:ext cx="10927878" cy="10023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US" sz="32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Before Networking: What Does One Device Need to Talk to Another?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150"/>
              <a:buFont typeface="Arial"/>
              <a:buNone/>
            </a:pPr>
            <a:r>
              <a:t/>
            </a:r>
            <a:endParaRPr b="0" i="0" sz="31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631908" y="1785441"/>
            <a:ext cx="11537463" cy="2246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b="0" i="0" lang="en-US" sz="11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Before a single byte moves, every device on the network must resolve four fundamental questions. Miss one, and the data never arrives.</a:t>
            </a:r>
            <a:endParaRPr b="0" i="0" sz="11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631908" y="2154634"/>
            <a:ext cx="5399647" cy="1679674"/>
          </a:xfrm>
          <a:prstGeom prst="roundRect">
            <a:avLst>
              <a:gd fmla="val 3809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790555" y="2313285"/>
            <a:ext cx="456990" cy="457002"/>
          </a:xfrm>
          <a:prstGeom prst="ellipse">
            <a:avLst/>
          </a:prstGeom>
          <a:solidFill>
            <a:srgbClr val="C9131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95" name="Google Shape;95;p16"/>
          <p:cNvSpPr/>
          <p:nvPr/>
        </p:nvSpPr>
        <p:spPr>
          <a:xfrm>
            <a:off x="916262" y="2438995"/>
            <a:ext cx="205576" cy="20558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790555" y="2898775"/>
            <a:ext cx="5082353" cy="250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1550"/>
              <a:buFont typeface="Dela Gothic One"/>
              <a:buNone/>
            </a:pPr>
            <a:r>
              <a:rPr b="0" i="0" lang="en-US" sz="1550" u="none" cap="none" strike="noStrike">
                <a:solidFill>
                  <a:srgbClr val="C91313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WHO?</a:t>
            </a:r>
            <a:r>
              <a:rPr b="0" i="0" lang="en-US" sz="15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 Identity</a:t>
            </a:r>
            <a:endParaRPr b="0" i="0" sz="15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790555" y="3226395"/>
            <a:ext cx="5082353" cy="2246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b="0" i="0" lang="en-US" sz="11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MAC address on the local segment; IP address on the network layer.</a:t>
            </a:r>
            <a:endParaRPr b="0" i="0" sz="11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6160040" y="2154634"/>
            <a:ext cx="5399746" cy="1679674"/>
          </a:xfrm>
          <a:prstGeom prst="roundRect">
            <a:avLst>
              <a:gd fmla="val 3809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6318687" y="2313285"/>
            <a:ext cx="456990" cy="457002"/>
          </a:xfrm>
          <a:prstGeom prst="ellipse">
            <a:avLst/>
          </a:prstGeom>
          <a:solidFill>
            <a:srgbClr val="C9131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100" name="Google Shape;100;p16"/>
          <p:cNvSpPr/>
          <p:nvPr/>
        </p:nvSpPr>
        <p:spPr>
          <a:xfrm>
            <a:off x="6444394" y="2438995"/>
            <a:ext cx="205576" cy="20558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6318687" y="2898775"/>
            <a:ext cx="5082453" cy="250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1550"/>
              <a:buFont typeface="Dela Gothic One"/>
              <a:buNone/>
            </a:pPr>
            <a:r>
              <a:rPr b="0" i="0" lang="en-US" sz="1550" u="none" cap="none" strike="noStrike">
                <a:solidFill>
                  <a:srgbClr val="C91313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WHERE?</a:t>
            </a:r>
            <a:r>
              <a:rPr b="0" i="0" lang="en-US" sz="15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 Location</a:t>
            </a:r>
            <a:endParaRPr b="0" i="0" sz="15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6318687" y="3226395"/>
            <a:ext cx="5082453" cy="449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b="0" i="0" lang="en-US" sz="11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Subnet defines "local." Default gateway routes all traffic beyond the segment.</a:t>
            </a:r>
            <a:endParaRPr b="0" i="0" sz="11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631908" y="3962797"/>
            <a:ext cx="5399647" cy="1679674"/>
          </a:xfrm>
          <a:prstGeom prst="roundRect">
            <a:avLst>
              <a:gd fmla="val 3809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790555" y="4121448"/>
            <a:ext cx="456990" cy="457002"/>
          </a:xfrm>
          <a:prstGeom prst="ellipse">
            <a:avLst/>
          </a:prstGeom>
          <a:solidFill>
            <a:srgbClr val="C9131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105" name="Google Shape;105;p16"/>
          <p:cNvSpPr/>
          <p:nvPr/>
        </p:nvSpPr>
        <p:spPr>
          <a:xfrm>
            <a:off x="916262" y="4247158"/>
            <a:ext cx="205576" cy="20558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790555" y="4706938"/>
            <a:ext cx="5082353" cy="250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1550"/>
              <a:buFont typeface="Dela Gothic One"/>
              <a:buNone/>
            </a:pPr>
            <a:r>
              <a:rPr b="0" i="0" lang="en-US" sz="1550" u="none" cap="none" strike="noStrike">
                <a:solidFill>
                  <a:srgbClr val="C91313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WHICH SERVICE?</a:t>
            </a:r>
            <a:r>
              <a:rPr b="0" i="0" lang="en-US" sz="15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 Port</a:t>
            </a:r>
            <a:endParaRPr b="0" i="0" sz="15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790555" y="5034558"/>
            <a:ext cx="5082353" cy="449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b="0" i="0" lang="en-US" sz="11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Port number identifies the application endpoint — Modbus TCP, OPC UA, HTTPS.</a:t>
            </a:r>
            <a:endParaRPr b="0" i="0" sz="11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6160040" y="3962797"/>
            <a:ext cx="5399746" cy="1679674"/>
          </a:xfrm>
          <a:prstGeom prst="roundRect">
            <a:avLst>
              <a:gd fmla="val 3809" name="adj"/>
            </a:avLst>
          </a:prstGeom>
          <a:solidFill>
            <a:srgbClr val="740B0B"/>
          </a:solidFill>
          <a:ln cap="flat" cmpd="sng" w="9525">
            <a:solidFill>
              <a:srgbClr val="8D242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6"/>
          <p:cNvSpPr/>
          <p:nvPr/>
        </p:nvSpPr>
        <p:spPr>
          <a:xfrm>
            <a:off x="6318687" y="4121448"/>
            <a:ext cx="456990" cy="457002"/>
          </a:xfrm>
          <a:prstGeom prst="ellipse">
            <a:avLst/>
          </a:prstGeom>
          <a:solidFill>
            <a:srgbClr val="C9131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preencoded.png" id="110" name="Google Shape;110;p16"/>
          <p:cNvSpPr/>
          <p:nvPr/>
        </p:nvSpPr>
        <p:spPr>
          <a:xfrm>
            <a:off x="6444394" y="4247158"/>
            <a:ext cx="205576" cy="20558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6"/>
          <p:cNvSpPr/>
          <p:nvPr/>
        </p:nvSpPr>
        <p:spPr>
          <a:xfrm>
            <a:off x="6318687" y="4706938"/>
            <a:ext cx="5082453" cy="2505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1550"/>
              <a:buFont typeface="Dela Gothic One"/>
              <a:buNone/>
            </a:pPr>
            <a:r>
              <a:rPr b="0" i="0" lang="en-US" sz="1550" u="none" cap="none" strike="noStrike">
                <a:solidFill>
                  <a:srgbClr val="C91313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HOW?</a:t>
            </a:r>
            <a:r>
              <a:rPr b="0" i="0" lang="en-US" sz="15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 Protocol</a:t>
            </a:r>
            <a:endParaRPr b="0" i="0" sz="15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6"/>
          <p:cNvSpPr/>
          <p:nvPr/>
        </p:nvSpPr>
        <p:spPr>
          <a:xfrm>
            <a:off x="6318687" y="5034558"/>
            <a:ext cx="5082453" cy="4492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150"/>
              <a:buFont typeface="DM Sans"/>
              <a:buNone/>
            </a:pPr>
            <a:r>
              <a:rPr b="0" i="0" lang="en-US" sz="11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The language both sides must agree on — Modbus TCP, OPC UA, and others.</a:t>
            </a:r>
            <a:endParaRPr b="0" i="0" sz="11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/>
          <p:nvPr/>
        </p:nvSpPr>
        <p:spPr>
          <a:xfrm>
            <a:off x="631908" y="5787033"/>
            <a:ext cx="10927878" cy="544711"/>
          </a:xfrm>
          <a:prstGeom prst="roundRect">
            <a:avLst>
              <a:gd fmla="val 11746" name="adj"/>
            </a:avLst>
          </a:prstGeom>
          <a:solidFill>
            <a:srgbClr val="740B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114" name="Google Shape;11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4205" y="5972572"/>
            <a:ext cx="190396" cy="15230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6"/>
          <p:cNvSpPr/>
          <p:nvPr/>
        </p:nvSpPr>
        <p:spPr>
          <a:xfrm>
            <a:off x="1126898" y="5953522"/>
            <a:ext cx="10890176" cy="2246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DM Sans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Our running example: a PLC reads </a:t>
            </a:r>
            <a:r>
              <a:rPr b="1" i="0" lang="en-US" sz="115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78°C</a:t>
            </a:r>
            <a:r>
              <a:rPr b="0" i="0" lang="en-US" sz="115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. All four questions must be answered for that value to reach the operator screen.</a:t>
            </a:r>
            <a:endParaRPr b="0" i="0" sz="11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>
            <a:off x="631908" y="651470"/>
            <a:ext cx="10927878" cy="296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b="0" i="0" lang="en-US" sz="18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So Where Does SCADA Actually Fit?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2" name="Google Shape;12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27694" y="724495"/>
            <a:ext cx="5580419" cy="5353943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7"/>
          <p:cNvSpPr/>
          <p:nvPr/>
        </p:nvSpPr>
        <p:spPr>
          <a:xfrm>
            <a:off x="6212327" y="3520480"/>
            <a:ext cx="5353809" cy="1484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900"/>
              <a:buFont typeface="Dela Gothic One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6811709" y="5411507"/>
            <a:ext cx="4657640" cy="2955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r>
              <a:rPr b="1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Sensor → PLC → Protocol → TCP/IP → SCADA Driver → Tag → HMI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631908" y="1200100"/>
            <a:ext cx="5094664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Let's Follow One Piece of Data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Trace </a:t>
            </a:r>
            <a:r>
              <a:rPr b="1" i="0" lang="en-US" sz="12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78°C</a:t>
            </a:r>
            <a:r>
              <a:rPr b="0" i="0" lang="en-US" sz="12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from sensor to screen. At which point could it disappear?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/>
          <p:nvPr/>
        </p:nvSpPr>
        <p:spPr>
          <a:xfrm>
            <a:off x="631908" y="200203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01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631909" y="2256234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7"/>
          <p:cNvSpPr/>
          <p:nvPr/>
        </p:nvSpPr>
        <p:spPr>
          <a:xfrm>
            <a:off x="631908" y="2374702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Temperature Sensor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631908" y="2577172"/>
            <a:ext cx="842050" cy="185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Reads 78°C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3880466" y="2055553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02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3880466" y="2361208"/>
            <a:ext cx="1013468" cy="2159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PLC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3836650" y="2521490"/>
            <a:ext cx="2005031" cy="20365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Holds value in register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631908" y="3232051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03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631908" y="3604716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Industrial Protocol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643500" y="3787129"/>
            <a:ext cx="1660916" cy="195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Modbus TCP / OPC UA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3831651" y="3232051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04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3831651" y="3619103"/>
            <a:ext cx="5392404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TCP / IP Stack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3831651" y="3779794"/>
            <a:ext cx="5392404" cy="243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Encapsulates packet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631908" y="446206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05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631908" y="4834731"/>
            <a:ext cx="5392305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Switch → Router → Firewall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621447" y="4984406"/>
            <a:ext cx="1672508" cy="1956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Forwards or blocks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3831651" y="4462066"/>
            <a:ext cx="321560" cy="20091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ela Gothic One"/>
              <a:buNone/>
            </a:pPr>
            <a:r>
              <a:rPr b="0" i="0" lang="en-US" sz="125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06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 rot="5400000">
            <a:off x="3464385" y="3361372"/>
            <a:ext cx="5392404" cy="19050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3804795" y="4807531"/>
            <a:ext cx="5392404" cy="2645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650"/>
              <a:buFont typeface="Dela Gothic One"/>
              <a:buNone/>
            </a:pPr>
            <a:r>
              <a:rPr b="0" i="0" lang="en-US" sz="11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SCADA Driver → Tag → HMI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3831651" y="4951579"/>
            <a:ext cx="1484493" cy="1880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250"/>
              <a:buFont typeface="DM Sans"/>
              <a:buNone/>
            </a:pPr>
            <a:r>
              <a:rPr b="0" i="0" lang="en-US" sz="1000" u="none" cap="none" strike="noStrike">
                <a:solidFill>
                  <a:srgbClr val="FFE5E5"/>
                </a:solidFill>
                <a:latin typeface="Calibri"/>
                <a:ea typeface="Calibri"/>
                <a:cs typeface="Calibri"/>
                <a:sym typeface="Calibri"/>
              </a:rPr>
              <a:t>Displays value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631908" y="5707818"/>
            <a:ext cx="10927878" cy="595610"/>
          </a:xfrm>
          <a:prstGeom prst="roundRect">
            <a:avLst>
              <a:gd fmla="val 11339" name="adj"/>
            </a:avLst>
          </a:prstGeom>
          <a:solidFill>
            <a:srgbClr val="740B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One failure anywhere in this chain — and 78°C never reaches the operator.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631909" y="3446753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3836650" y="2258167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3831651" y="3445559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643500" y="4702419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3831651" y="4701364"/>
            <a:ext cx="1783746" cy="75448"/>
          </a:xfrm>
          <a:prstGeom prst="rect">
            <a:avLst/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/>
          <p:nvPr/>
        </p:nvSpPr>
        <p:spPr>
          <a:xfrm>
            <a:off x="631908" y="694134"/>
            <a:ext cx="10927878" cy="3525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200"/>
              <a:buFont typeface="Dela Gothic One"/>
              <a:buNone/>
            </a:pPr>
            <a:r>
              <a:rPr b="0" i="0" lang="en-US" sz="22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Who Moves the Data?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8"/>
          <p:cNvSpPr/>
          <p:nvPr/>
        </p:nvSpPr>
        <p:spPr>
          <a:xfrm>
            <a:off x="631908" y="1142107"/>
            <a:ext cx="11537463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800"/>
              <a:buFont typeface="DM Sans"/>
              <a:buNone/>
            </a:pP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Three devices stand between our PLC and SCADA. Each makes a </a:t>
            </a:r>
            <a:r>
              <a:rPr b="1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decision</a:t>
            </a: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not a dictionary definition.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9" name="Google Shape;15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1908" y="1350268"/>
            <a:ext cx="10927878" cy="479365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8"/>
          <p:cNvSpPr/>
          <p:nvPr/>
        </p:nvSpPr>
        <p:spPr>
          <a:xfrm>
            <a:off x="3943677" y="4752835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b="0" i="0" lang="en-US" sz="19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Router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/>
          <p:nvPr/>
        </p:nvSpPr>
        <p:spPr>
          <a:xfrm>
            <a:off x="3943677" y="5148287"/>
            <a:ext cx="1651593" cy="565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b="0" i="0" lang="en-US" sz="14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Reads IP, connects networks, selects path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8"/>
          <p:cNvSpPr/>
          <p:nvPr/>
        </p:nvSpPr>
        <p:spPr>
          <a:xfrm>
            <a:off x="9190397" y="4941278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b="0" i="0" lang="en-US" sz="19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SCADA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8"/>
          <p:cNvSpPr/>
          <p:nvPr/>
        </p:nvSpPr>
        <p:spPr>
          <a:xfrm>
            <a:off x="9190397" y="5336731"/>
            <a:ext cx="1651593" cy="376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b="0" i="0" lang="en-US" sz="14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Receives data from the network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1378147" y="1781109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b="0" i="0" lang="en-US" sz="19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Switch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1378147" y="2176561"/>
            <a:ext cx="1651593" cy="56533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b="0" i="0" lang="en-US" sz="14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Reads MAC, forwards within LAN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6603837" y="1781109"/>
            <a:ext cx="1651593" cy="3113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950"/>
              <a:buFont typeface="Dela Gothic One"/>
              <a:buNone/>
            </a:pPr>
            <a:r>
              <a:rPr b="0" i="0" lang="en-US" sz="19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Firewall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8"/>
          <p:cNvSpPr/>
          <p:nvPr/>
        </p:nvSpPr>
        <p:spPr>
          <a:xfrm>
            <a:off x="6603837" y="2176561"/>
            <a:ext cx="1651593" cy="376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50"/>
              <a:buFont typeface="DM Sans"/>
              <a:buNone/>
            </a:pPr>
            <a:r>
              <a:rPr b="0" i="0" lang="en-US" sz="14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Inspects traffic, allows or blocks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631908" y="6215459"/>
            <a:ext cx="11537463" cy="136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800"/>
              <a:buFont typeface="DM Sans"/>
              <a:buNone/>
            </a:pP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Each device either </a:t>
            </a:r>
            <a:r>
              <a:rPr b="0" i="0" lang="en-US" sz="800" u="none" cap="none" strike="noStrike">
                <a:solidFill>
                  <a:srgbClr val="22C55E"/>
                </a:solidFill>
                <a:latin typeface="DM Sans"/>
                <a:ea typeface="DM Sans"/>
                <a:cs typeface="DM Sans"/>
                <a:sym typeface="DM Sans"/>
              </a:rPr>
              <a:t>passes the data through</a:t>
            </a: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or </a:t>
            </a:r>
            <a:r>
              <a:rPr b="0" i="0" lang="en-US" sz="800" u="none" cap="none" strike="noStrik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stops it cold</a:t>
            </a:r>
            <a:r>
              <a:rPr b="0" i="0" lang="en-US" sz="8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9"/>
          <p:cNvSpPr/>
          <p:nvPr/>
        </p:nvSpPr>
        <p:spPr>
          <a:xfrm>
            <a:off x="3248093" y="2593836"/>
            <a:ext cx="6005400" cy="4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t/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5253015" y="4016305"/>
            <a:ext cx="6005400" cy="217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4535"/>
              <a:buFont typeface="Dela Gothic One"/>
              <a:buNone/>
            </a:pPr>
            <a:r>
              <a:t/>
            </a:r>
            <a:endParaRPr b="0" i="0" sz="4535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10393683" y="6193874"/>
            <a:ext cx="1410000" cy="419400"/>
          </a:xfrm>
          <a:prstGeom prst="rect">
            <a:avLst/>
          </a:prstGeom>
          <a:solidFill>
            <a:schemeClr val="dk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375" lIns="86375" spcFirstLastPara="1" rIns="86375" wrap="square" tIns="863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1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9"/>
          <p:cNvSpPr/>
          <p:nvPr/>
        </p:nvSpPr>
        <p:spPr>
          <a:xfrm>
            <a:off x="10393683" y="6193874"/>
            <a:ext cx="1410000" cy="419400"/>
          </a:xfrm>
          <a:prstGeom prst="rect">
            <a:avLst/>
          </a:prstGeom>
          <a:solidFill>
            <a:srgbClr val="0A0909"/>
          </a:solidFill>
          <a:ln cap="flat" cmpd="sng" w="9525">
            <a:solidFill>
              <a:srgbClr val="0A09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375" lIns="86375" spcFirstLastPara="1" rIns="86375" wrap="square" tIns="863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1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78" name="Google Shape;17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6375" y="189213"/>
            <a:ext cx="11519226" cy="64795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4344" y="6047828"/>
            <a:ext cx="10583289" cy="2969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31743" y="801172"/>
            <a:ext cx="1655889" cy="26998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4344" y="1404133"/>
            <a:ext cx="343172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2" name="Google Shape;182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80056" y="1404133"/>
            <a:ext cx="343172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955768" y="1404133"/>
            <a:ext cx="343186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04344" y="3734980"/>
            <a:ext cx="343172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9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380056" y="3734980"/>
            <a:ext cx="343172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19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955768" y="3734980"/>
            <a:ext cx="3431862" cy="2186853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57333" y="2056590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533045" y="2056590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8108758" y="2056590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57333" y="4387437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4533045" y="4387437"/>
            <a:ext cx="944936" cy="88194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9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8108758" y="4387437"/>
            <a:ext cx="944936" cy="881941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9"/>
          <p:cNvSpPr txBox="1"/>
          <p:nvPr/>
        </p:nvSpPr>
        <p:spPr>
          <a:xfrm>
            <a:off x="975332" y="6128823"/>
            <a:ext cx="5714400" cy="12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14"/>
              <a:buFont typeface="Arial"/>
              <a:buNone/>
            </a:pPr>
            <a:r>
              <a:rPr b="0" i="0" lang="en-US" sz="815" u="none" cap="none" strike="noStrike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SCADA Rule:</a:t>
            </a:r>
            <a:r>
              <a:rPr b="0" i="0" lang="en-US" sz="815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Topologies dictate latency, fault isolation, and packet loss impact between PLC register &amp; HMI screen.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9"/>
          <p:cNvSpPr txBox="1"/>
          <p:nvPr/>
        </p:nvSpPr>
        <p:spPr>
          <a:xfrm>
            <a:off x="804344" y="570207"/>
            <a:ext cx="39420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"/>
              <a:buFont typeface="Arial"/>
              <a:buNone/>
            </a:pPr>
            <a:r>
              <a:rPr b="0" i="0" lang="en-US" sz="780" u="none" cap="none" strike="noStrike">
                <a:solidFill>
                  <a:schemeClr val="lt1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INDUSTRIAL INFRASTRUCTURE &amp; FIELD ARCHITECTURES</a:t>
            </a:r>
            <a:endParaRPr b="0" i="0" sz="132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804344" y="729177"/>
            <a:ext cx="5083800" cy="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25"/>
              <a:buFont typeface="Arial"/>
              <a:buNone/>
            </a:pPr>
            <a:r>
              <a:rPr b="1" i="0" lang="en-US" sz="2125" u="none" cap="none" strike="noStrike">
                <a:solidFill>
                  <a:srgbClr val="FFFFFF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Network Topologies in SCADA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96" name="Google Shape;196;p19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9866734" y="882167"/>
            <a:ext cx="134991" cy="107993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9"/>
          <p:cNvSpPr/>
          <p:nvPr/>
        </p:nvSpPr>
        <p:spPr>
          <a:xfrm>
            <a:off x="804344" y="693179"/>
            <a:ext cx="63000" cy="63000"/>
          </a:xfrm>
          <a:prstGeom prst="roundRect">
            <a:avLst>
              <a:gd fmla="val 50000" name="adj"/>
            </a:avLst>
          </a:prstGeom>
          <a:solidFill>
            <a:srgbClr val="38BDF8"/>
          </a:solidFill>
          <a:ln>
            <a:noFill/>
          </a:ln>
        </p:spPr>
        <p:txBody>
          <a:bodyPr anchorCtr="0" anchor="ctr" bIns="43175" lIns="86375" spcFirstLastPara="1" rIns="86375" wrap="square" tIns="431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98" name="Google Shape;198;p19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020329" y="2119585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9"/>
          <p:cNvSpPr txBox="1"/>
          <p:nvPr/>
        </p:nvSpPr>
        <p:spPr>
          <a:xfrm>
            <a:off x="2028261" y="2392240"/>
            <a:ext cx="2054700" cy="4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Dedicated point-to-point connections from a central managed switch to PLCs, HMIs, and drives.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9"/>
          <p:cNvSpPr txBox="1"/>
          <p:nvPr/>
        </p:nvSpPr>
        <p:spPr>
          <a:xfrm>
            <a:off x="2892203" y="2898242"/>
            <a:ext cx="1190700" cy="12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"/>
              <a:buFont typeface="Arial"/>
              <a:buNone/>
            </a:pP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Fault isolated</a:t>
            </a:r>
            <a:r>
              <a:rPr b="0" i="0" lang="en-US" sz="78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Switch is SPOF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1" name="Google Shape;201;p19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596041" y="2119585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9"/>
          <p:cNvSpPr txBox="1"/>
          <p:nvPr/>
        </p:nvSpPr>
        <p:spPr>
          <a:xfrm>
            <a:off x="5603973" y="2392240"/>
            <a:ext cx="2054700" cy="4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Devices connected in a closed circular loop. One break activates backup path in &lt;10ms recovery.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19"/>
          <p:cNvSpPr txBox="1"/>
          <p:nvPr/>
        </p:nvSpPr>
        <p:spPr>
          <a:xfrm>
            <a:off x="6629904" y="2838266"/>
            <a:ext cx="1029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"/>
              <a:buFont typeface="Arial"/>
              <a:buNone/>
            </a:pP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High redundancy</a:t>
            </a:r>
            <a:r>
              <a:rPr b="0" i="0" lang="en-US" sz="78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Protocol setup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4" name="Google Shape;204;p19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171753" y="2119585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9"/>
          <p:cNvSpPr txBox="1"/>
          <p:nvPr/>
        </p:nvSpPr>
        <p:spPr>
          <a:xfrm>
            <a:off x="9179686" y="2243749"/>
            <a:ext cx="2055000" cy="4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Single backbone cable with terminating resistors and tap drops for multi-drop serial devices.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10219257" y="2748271"/>
            <a:ext cx="10152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"/>
              <a:buFont typeface="Arial"/>
              <a:buNone/>
            </a:pP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Lowest cable cost</a:t>
            </a:r>
            <a:r>
              <a:rPr b="0" i="0" lang="en-US" sz="78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Trunk break halts bus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7" name="Google Shape;207;p19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020329" y="4450433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2028261" y="4664590"/>
            <a:ext cx="20547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Full or partial point-to-multipoint links providing dynamic self-healing data rerouting.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9"/>
          <p:cNvSpPr txBox="1"/>
          <p:nvPr/>
        </p:nvSpPr>
        <p:spPr>
          <a:xfrm>
            <a:off x="2933825" y="5169113"/>
            <a:ext cx="11493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"/>
              <a:buFont typeface="Arial"/>
              <a:buNone/>
            </a:pP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Zero downtime</a:t>
            </a:r>
            <a:r>
              <a:rPr b="0" i="0" lang="en-US" sz="78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High wiring complexity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0" name="Google Shape;210;p19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4596041" y="4450433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19"/>
          <p:cNvSpPr txBox="1"/>
          <p:nvPr/>
        </p:nvSpPr>
        <p:spPr>
          <a:xfrm>
            <a:off x="5603973" y="4664590"/>
            <a:ext cx="20547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Tiered hierarchical star dividing plant control into core, distribution, and local cell layers.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9"/>
          <p:cNvSpPr txBox="1"/>
          <p:nvPr/>
        </p:nvSpPr>
        <p:spPr>
          <a:xfrm>
            <a:off x="6703025" y="5169113"/>
            <a:ext cx="955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"/>
              <a:buFont typeface="Arial"/>
              <a:buNone/>
            </a:pP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Modular expansion</a:t>
            </a:r>
            <a:r>
              <a:rPr b="0" i="0" lang="en-US" sz="78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Root dependency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3" name="Google Shape;213;p19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8171753" y="4450433"/>
            <a:ext cx="818945" cy="755949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9"/>
          <p:cNvSpPr txBox="1"/>
          <p:nvPr/>
        </p:nvSpPr>
        <p:spPr>
          <a:xfrm>
            <a:off x="9179686" y="4664590"/>
            <a:ext cx="2055000" cy="3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Combines resilient Ring backbones with localized Star clusters and serial Bus gateways.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9"/>
          <p:cNvSpPr txBox="1"/>
          <p:nvPr/>
        </p:nvSpPr>
        <p:spPr>
          <a:xfrm>
            <a:off x="10208711" y="5169113"/>
            <a:ext cx="10260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80"/>
              <a:buFont typeface="Arial"/>
              <a:buNone/>
            </a:pP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Optimized balance</a:t>
            </a:r>
            <a:r>
              <a:rPr b="0" i="0" lang="en-US" sz="78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78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Complex diagnostics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9"/>
          <p:cNvSpPr txBox="1"/>
          <p:nvPr/>
        </p:nvSpPr>
        <p:spPr>
          <a:xfrm>
            <a:off x="2028261" y="2080016"/>
            <a:ext cx="9426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5"/>
              <a:buFont typeface="Arial"/>
              <a:buNone/>
            </a:pPr>
            <a:r>
              <a:rPr b="1" i="0" lang="en-US" sz="1135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Star Topology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7" name="Google Shape;217;p19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2970806" y="2023264"/>
            <a:ext cx="1112268" cy="26998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9"/>
          <p:cNvSpPr txBox="1"/>
          <p:nvPr/>
        </p:nvSpPr>
        <p:spPr>
          <a:xfrm>
            <a:off x="5603973" y="2080016"/>
            <a:ext cx="9780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5"/>
              <a:buFont typeface="Arial"/>
              <a:buNone/>
            </a:pPr>
            <a:r>
              <a:rPr b="1" i="0" lang="en-US" sz="1135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Ring Topology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9" name="Google Shape;219;p19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6581814" y="2023264"/>
            <a:ext cx="1076974" cy="26998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9179686" y="2017020"/>
            <a:ext cx="9270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5"/>
              <a:buFont typeface="Arial"/>
              <a:buNone/>
            </a:pPr>
            <a:r>
              <a:rPr b="1" i="0" lang="en-US" sz="1135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Bus Topology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1" name="Google Shape;221;p19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0316704" y="2054761"/>
            <a:ext cx="917938" cy="15299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9"/>
          <p:cNvSpPr txBox="1"/>
          <p:nvPr/>
        </p:nvSpPr>
        <p:spPr>
          <a:xfrm>
            <a:off x="2028261" y="4352367"/>
            <a:ext cx="9330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5"/>
              <a:buFont typeface="Arial"/>
              <a:buNone/>
            </a:pPr>
            <a:r>
              <a:rPr b="1" i="0" lang="en-US" sz="1135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Mesh Topology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3" name="Google Shape;223;p19"/>
          <p:cNvPicPr preferRelativeResize="0"/>
          <p:nvPr/>
        </p:nvPicPr>
        <p:blipFill rotWithShape="1">
          <a:blip r:embed="rId25">
            <a:alphaModFix/>
          </a:blip>
          <a:srcRect b="0" l="0" r="0" t="0"/>
          <a:stretch/>
        </p:blipFill>
        <p:spPr>
          <a:xfrm>
            <a:off x="2961385" y="4295614"/>
            <a:ext cx="1121689" cy="26998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9"/>
          <p:cNvSpPr txBox="1"/>
          <p:nvPr/>
        </p:nvSpPr>
        <p:spPr>
          <a:xfrm>
            <a:off x="5603973" y="4265129"/>
            <a:ext cx="838800" cy="17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5"/>
              <a:buFont typeface="Arial"/>
              <a:buNone/>
            </a:pPr>
            <a:r>
              <a:rPr b="1" i="0" lang="en-US" sz="1135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Tree Topology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5" name="Google Shape;225;p19"/>
          <p:cNvPicPr preferRelativeResize="0"/>
          <p:nvPr/>
        </p:nvPicPr>
        <p:blipFill rotWithShape="1">
          <a:blip r:embed="rId26">
            <a:alphaModFix/>
          </a:blip>
          <a:srcRect b="0" l="0" r="0" t="0"/>
          <a:stretch/>
        </p:blipFill>
        <p:spPr>
          <a:xfrm>
            <a:off x="6442745" y="4295614"/>
            <a:ext cx="1216042" cy="269982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9"/>
          <p:cNvSpPr txBox="1"/>
          <p:nvPr/>
        </p:nvSpPr>
        <p:spPr>
          <a:xfrm>
            <a:off x="9179686" y="4265129"/>
            <a:ext cx="936900" cy="34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35"/>
              <a:buFont typeface="Arial"/>
              <a:buNone/>
            </a:pPr>
            <a:r>
              <a:rPr b="1" i="0" lang="en-US" sz="1135" u="none" cap="none" strike="noStrike">
                <a:solidFill>
                  <a:srgbClr val="F1F5F9"/>
                </a:solidFill>
                <a:latin typeface="Calibri"/>
                <a:ea typeface="Calibri"/>
                <a:cs typeface="Calibri"/>
                <a:sym typeface="Calibri"/>
              </a:rPr>
              <a:t>Hybrid Topology</a:t>
            </a:r>
            <a:endParaRPr b="0" i="0" sz="132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7" name="Google Shape;227;p19"/>
          <p:cNvPicPr preferRelativeResize="0"/>
          <p:nvPr/>
        </p:nvPicPr>
        <p:blipFill rotWithShape="1">
          <a:blip r:embed="rId27">
            <a:alphaModFix/>
          </a:blip>
          <a:srcRect b="0" l="0" r="0" t="0"/>
          <a:stretch/>
        </p:blipFill>
        <p:spPr>
          <a:xfrm>
            <a:off x="10116607" y="4295614"/>
            <a:ext cx="1118034" cy="2699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0"/>
          <p:cNvSpPr/>
          <p:nvPr/>
        </p:nvSpPr>
        <p:spPr>
          <a:xfrm>
            <a:off x="631908" y="644227"/>
            <a:ext cx="1499700" cy="205800"/>
          </a:xfrm>
          <a:prstGeom prst="roundRect">
            <a:avLst>
              <a:gd fmla="val 22121" name="adj"/>
            </a:avLst>
          </a:prstGeom>
          <a:solidFill>
            <a:srgbClr val="46070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20"/>
          <p:cNvSpPr/>
          <p:nvPr/>
        </p:nvSpPr>
        <p:spPr>
          <a:xfrm>
            <a:off x="713067" y="684808"/>
            <a:ext cx="1947000" cy="12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850"/>
              <a:buFont typeface="DM Sans"/>
              <a:buNone/>
            </a:pPr>
            <a:r>
              <a:rPr b="0" i="0" lang="en-US" sz="8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ENCAPSULATION</a:t>
            </a:r>
            <a:endParaRPr b="0" i="0" sz="8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0"/>
          <p:cNvSpPr/>
          <p:nvPr/>
        </p:nvSpPr>
        <p:spPr>
          <a:xfrm>
            <a:off x="631908" y="890488"/>
            <a:ext cx="10927800" cy="44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800"/>
              <a:buFont typeface="Dela Gothic One"/>
              <a:buNone/>
            </a:pPr>
            <a:r>
              <a:rPr b="0" i="0" lang="en-US" sz="28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78°C Doesn't Travel Alone</a:t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0"/>
          <p:cNvSpPr/>
          <p:nvPr/>
        </p:nvSpPr>
        <p:spPr>
          <a:xfrm>
            <a:off x="631908" y="1488281"/>
            <a:ext cx="109278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b="0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Every tag on a P&amp;ID is more than a number — it is a </a:t>
            </a:r>
            <a:r>
              <a:rPr b="1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complete data journey</a:t>
            </a:r>
            <a:r>
              <a:rPr b="0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from a physical process element all the way to the operator's screen. Encapsulation is the step that binds measurement, transmission, and display into one trusted signal.</a:t>
            </a:r>
            <a:endParaRPr b="0" i="0" sz="10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37" name="Google Shape;23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92699" y="2113558"/>
            <a:ext cx="3214210" cy="3214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238" name="Google Shape;23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04439" y="2095897"/>
            <a:ext cx="677052" cy="812403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0"/>
          <p:cNvSpPr/>
          <p:nvPr/>
        </p:nvSpPr>
        <p:spPr>
          <a:xfrm>
            <a:off x="6482989" y="2231231"/>
            <a:ext cx="5082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ela Gothic One"/>
              <a:buNone/>
            </a:pPr>
            <a:r>
              <a:rPr b="0" i="0" lang="en-US" sz="14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Physical Process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0"/>
          <p:cNvSpPr/>
          <p:nvPr/>
        </p:nvSpPr>
        <p:spPr>
          <a:xfrm>
            <a:off x="6482989" y="2555478"/>
            <a:ext cx="50829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b="0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Sensor measures temperature, pressure, or flow at the field device</a:t>
            </a:r>
            <a:endParaRPr b="0" i="0" sz="10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41" name="Google Shape;241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04439" y="2908300"/>
            <a:ext cx="677052" cy="812403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p20"/>
          <p:cNvSpPr/>
          <p:nvPr/>
        </p:nvSpPr>
        <p:spPr>
          <a:xfrm>
            <a:off x="6482989" y="3043634"/>
            <a:ext cx="5082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ela Gothic One"/>
              <a:buNone/>
            </a:pPr>
            <a:r>
              <a:rPr b="0" i="0" lang="en-US" sz="14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Signal Transmission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6482989" y="3367881"/>
            <a:ext cx="50829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b="0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4–20 mA or digital signal travels through the I/O network</a:t>
            </a:r>
            <a:endParaRPr b="0" i="0" sz="10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44" name="Google Shape;244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04439" y="3720703"/>
            <a:ext cx="677052" cy="812403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20"/>
          <p:cNvSpPr/>
          <p:nvPr/>
        </p:nvSpPr>
        <p:spPr>
          <a:xfrm>
            <a:off x="6482989" y="3856038"/>
            <a:ext cx="5082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ela Gothic One"/>
              <a:buNone/>
            </a:pPr>
            <a:r>
              <a:rPr b="0" i="0" lang="en-US" sz="14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Encapsulation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6482989" y="4180284"/>
            <a:ext cx="50829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b="0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Tag metadata, units, alarms, and scaling are bound to the raw value</a:t>
            </a:r>
            <a:endParaRPr b="0" i="0" sz="10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47" name="Google Shape;247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04439" y="4533106"/>
            <a:ext cx="677052" cy="812403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0"/>
          <p:cNvSpPr/>
          <p:nvPr/>
        </p:nvSpPr>
        <p:spPr>
          <a:xfrm>
            <a:off x="6482989" y="4668441"/>
            <a:ext cx="5082900" cy="22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ela Gothic One"/>
              <a:buNone/>
            </a:pPr>
            <a:r>
              <a:rPr b="0" i="0" lang="en-US" sz="1400" u="none" cap="none" strike="noStrike">
                <a:solidFill>
                  <a:srgbClr val="FFE5E5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Operator Screen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0"/>
          <p:cNvSpPr/>
          <p:nvPr/>
        </p:nvSpPr>
        <p:spPr>
          <a:xfrm>
            <a:off x="6482989" y="4992687"/>
            <a:ext cx="5082900" cy="1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050"/>
              <a:buFont typeface="DM Sans"/>
              <a:buNone/>
            </a:pPr>
            <a:r>
              <a:rPr b="0" i="0" lang="en-US" sz="105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Engineered value displayed with full context on the HMI/SCADA</a:t>
            </a:r>
            <a:endParaRPr b="0" i="0" sz="10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0"/>
          <p:cNvSpPr/>
          <p:nvPr/>
        </p:nvSpPr>
        <p:spPr>
          <a:xfrm>
            <a:off x="631908" y="5573911"/>
            <a:ext cx="10927800" cy="639900"/>
          </a:xfrm>
          <a:prstGeom prst="roundRect">
            <a:avLst>
              <a:gd fmla="val 8890" name="adj"/>
            </a:avLst>
          </a:prstGeom>
          <a:solidFill>
            <a:srgbClr val="740B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preencoded.png" id="251" name="Google Shape;251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7239" y="5717778"/>
            <a:ext cx="169263" cy="135334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20"/>
          <p:cNvSpPr/>
          <p:nvPr/>
        </p:nvSpPr>
        <p:spPr>
          <a:xfrm>
            <a:off x="1071833" y="5709245"/>
            <a:ext cx="10352700" cy="3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DM Sans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Key Insight:</a:t>
            </a:r>
            <a:r>
              <a:rPr b="0" i="0" lang="en-US" sz="105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 Without encapsulation, a raw signal is just a number. Encapsulation gives it meaning, units, alarm limits, and traceability — turning data into actionable information.</a:t>
            </a:r>
            <a:endParaRPr b="0" i="0" sz="10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1"/>
          <p:cNvSpPr/>
          <p:nvPr/>
        </p:nvSpPr>
        <p:spPr>
          <a:xfrm>
            <a:off x="631908" y="627955"/>
            <a:ext cx="10927878" cy="11878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700"/>
              <a:buFont typeface="Dela Gothic One"/>
              <a:buNone/>
            </a:pPr>
            <a:r>
              <a:rPr b="0" i="0" lang="en-US" sz="37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VLANs: Logical Segmentation on Shared Infrastructure</a:t>
            </a:r>
            <a:endParaRPr b="0" i="0" sz="37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631908" y="2267049"/>
            <a:ext cx="5243679" cy="296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b="0" i="0" lang="en-US" sz="18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Typical SCADA VLAN Layout</a:t>
            </a:r>
            <a:endParaRPr b="0" i="0" sz="18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60" name="Google Shape;260;p21"/>
          <p:cNvGraphicFramePr/>
          <p:nvPr/>
        </p:nvGraphicFramePr>
        <p:xfrm>
          <a:off x="631908" y="276701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{29AFB725-18CF-4B91-9796-50FC56E159CE}</a:tableStyleId>
              </a:tblPr>
              <a:tblGrid>
                <a:gridCol w="1747900"/>
                <a:gridCol w="1747900"/>
                <a:gridCol w="1747900"/>
              </a:tblGrid>
              <a:tr h="521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VLAN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Segment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Typical Hosts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VLAN 10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Control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PLCs, RTUs, sensors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13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VLAN 20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HMI / SCADA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Operator workstations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99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VLAN 30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Servers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E5E5"/>
                        </a:buClr>
                        <a:buSzPts val="1400"/>
                        <a:buFont typeface="DM Sans"/>
                        <a:buNone/>
                      </a:pPr>
                      <a:r>
                        <a:rPr lang="en-US" sz="1400" u="none" cap="none" strike="noStrike">
                          <a:solidFill>
                            <a:srgbClr val="FFE5E5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Historian, application servers</a:t>
                      </a:r>
                      <a:endParaRPr sz="1400" u="none" cap="none" strike="noStrike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6350" marB="6350" marR="180550" marL="18055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61" name="Google Shape;261;p21"/>
          <p:cNvSpPr/>
          <p:nvPr/>
        </p:nvSpPr>
        <p:spPr>
          <a:xfrm>
            <a:off x="631908" y="3277011"/>
            <a:ext cx="5243679" cy="11284"/>
          </a:xfrm>
          <a:prstGeom prst="rect">
            <a:avLst/>
          </a:prstGeom>
          <a:solidFill>
            <a:srgbClr val="FFFFFF">
              <a:alpha val="2392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1"/>
          <p:cNvSpPr/>
          <p:nvPr/>
        </p:nvSpPr>
        <p:spPr>
          <a:xfrm>
            <a:off x="631908" y="4090386"/>
            <a:ext cx="5243679" cy="11284"/>
          </a:xfrm>
          <a:prstGeom prst="rect">
            <a:avLst/>
          </a:prstGeom>
          <a:solidFill>
            <a:srgbClr val="FFFFFF">
              <a:alpha val="2392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1"/>
          <p:cNvSpPr/>
          <p:nvPr/>
        </p:nvSpPr>
        <p:spPr>
          <a:xfrm>
            <a:off x="631908" y="4903761"/>
            <a:ext cx="5243679" cy="11284"/>
          </a:xfrm>
          <a:prstGeom prst="rect">
            <a:avLst/>
          </a:prstGeom>
          <a:solidFill>
            <a:srgbClr val="FFFFFF">
              <a:alpha val="23922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1"/>
          <p:cNvSpPr/>
          <p:nvPr/>
        </p:nvSpPr>
        <p:spPr>
          <a:xfrm>
            <a:off x="6322457" y="2267049"/>
            <a:ext cx="5243679" cy="593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b="0" i="0" lang="en-US" sz="18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The Silent Killer: VLAN Misconfiguration</a:t>
            </a:r>
            <a:endParaRPr b="0" i="0" sz="185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1"/>
          <p:cNvSpPr/>
          <p:nvPr/>
        </p:nvSpPr>
        <p:spPr>
          <a:xfrm>
            <a:off x="6322457" y="3041253"/>
            <a:ext cx="5243679" cy="866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M Sans"/>
              <a:buNone/>
            </a:pPr>
            <a:r>
              <a:rPr b="0" i="0" lang="en-US" sz="14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 device can be </a:t>
            </a:r>
            <a:r>
              <a:rPr b="1" i="0" lang="en-US" sz="14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physically connected and show a link light</a:t>
            </a:r>
            <a:r>
              <a:rPr b="0" i="0" lang="en-US" sz="14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while being logically isolated on the wrong VLAN — unable to reach any of its intended services.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1"/>
          <p:cNvSpPr/>
          <p:nvPr/>
        </p:nvSpPr>
        <p:spPr>
          <a:xfrm>
            <a:off x="6322457" y="4070449"/>
            <a:ext cx="5243679" cy="18597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4480" lvl="0" marL="28448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M Sans"/>
              <a:buChar char="•"/>
            </a:pPr>
            <a:r>
              <a:rPr b="0" i="0" lang="en-US" sz="14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Segmentation creates security boundaries; routing and firewalls decide what may cross them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4480" lvl="0" marL="28448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M Sans"/>
              <a:buChar char="•"/>
            </a:pPr>
            <a:r>
              <a:rPr b="0" i="0" lang="en-US" sz="14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Always verify switch port VLAN membership when a device "appears connected but can't reach anything"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4480" lvl="0" marL="284480" marR="0" rtl="0" algn="l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400"/>
              <a:buFont typeface="DM Sans"/>
              <a:buChar char="•"/>
            </a:pPr>
            <a:r>
              <a:rPr b="0" i="0" lang="en-US" sz="14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Inter-VLAN traffic requires an explicit routing policy — never assume it flows freely</a:t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2"/>
          <p:cNvSpPr/>
          <p:nvPr/>
        </p:nvSpPr>
        <p:spPr>
          <a:xfrm>
            <a:off x="310524" y="573692"/>
            <a:ext cx="6960900" cy="109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3400"/>
              <a:buFont typeface="Dela Gothic One"/>
              <a:buNone/>
            </a:pPr>
            <a:r>
              <a:rPr b="0" i="0" lang="en-US" sz="34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Wireshark: Making Invisible Packets Visible</a:t>
            </a:r>
            <a:endParaRPr b="0" i="0" sz="3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310474" y="1668688"/>
            <a:ext cx="6960900" cy="5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None/>
            </a:pP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Wireshark reveals what the network </a:t>
            </a:r>
            <a:r>
              <a:rPr b="0" i="1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actually</a:t>
            </a: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sees — not what you believe it should see. It is the ground truth tool for SCADA network diagnostics.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310474" y="2341900"/>
            <a:ext cx="6960900" cy="2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700"/>
              <a:buFont typeface="Dela Gothic One"/>
              <a:buNone/>
            </a:pPr>
            <a:r>
              <a:rPr b="0" i="0" lang="en-US" sz="17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Inspect Each Layer</a:t>
            </a:r>
            <a:endParaRPr b="0" i="0" sz="17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310475" y="2690150"/>
            <a:ext cx="5658900" cy="1440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1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Ethernet</a:t>
            </a: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Source and destination MAC addresses; confirm ARP resolution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1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IP</a:t>
            </a: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Verify correct source/destination IPs; catch routing errors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1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TCP/UDP</a:t>
            </a: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Confirm expected ports; spot retransmissions and resets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1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Application</a:t>
            </a: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 — Validate Modbus function codes, OPC UA handshakes, protocol responses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310474" y="4640388"/>
            <a:ext cx="6960900" cy="2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700"/>
              <a:buFont typeface="Dela Gothic One"/>
              <a:buNone/>
            </a:pPr>
            <a:r>
              <a:rPr b="0" i="0" lang="en-US" sz="170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What to Look For</a:t>
            </a:r>
            <a:endParaRPr b="0" i="0" sz="17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310524" y="5054075"/>
            <a:ext cx="6960900" cy="11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TCP RST packets — connection actively refused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SYN with no SYN-ACK — firewall silently dropping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Excessive retransmissions — packet loss or congestion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64160" lvl="0" marL="264160" marR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1300"/>
              <a:buFont typeface="DM Sans"/>
              <a:buChar char="•"/>
            </a:pPr>
            <a:r>
              <a:rPr b="0" i="0" lang="en-US" sz="1300" u="none" cap="none" strike="noStrike">
                <a:solidFill>
                  <a:srgbClr val="FFE5E5"/>
                </a:solidFill>
                <a:latin typeface="DM Sans"/>
                <a:ea typeface="DM Sans"/>
                <a:cs typeface="DM Sans"/>
                <a:sym typeface="DM Sans"/>
              </a:rPr>
              <a:t>Malformed protocol frames — misconfigured driver or firmware bug</a:t>
            </a:r>
            <a:endParaRPr b="0" i="0" sz="1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03300" y="2039075"/>
            <a:ext cx="6117374" cy="325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Google Shape;28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" y="152400"/>
            <a:ext cx="11650132" cy="6553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24"/>
          <p:cNvSpPr/>
          <p:nvPr/>
        </p:nvSpPr>
        <p:spPr>
          <a:xfrm>
            <a:off x="10644700" y="6355350"/>
            <a:ext cx="1492500" cy="444000"/>
          </a:xfrm>
          <a:prstGeom prst="rect">
            <a:avLst/>
          </a:prstGeom>
          <a:solidFill>
            <a:srgbClr val="0A0909"/>
          </a:solidFill>
          <a:ln cap="flat" cmpd="sng" w="9525">
            <a:solidFill>
              <a:srgbClr val="0A090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740B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24"/>
          <p:cNvSpPr/>
          <p:nvPr/>
        </p:nvSpPr>
        <p:spPr>
          <a:xfrm>
            <a:off x="631908" y="496491"/>
            <a:ext cx="465820" cy="137021"/>
          </a:xfrm>
          <a:prstGeom prst="roundRect">
            <a:avLst>
              <a:gd fmla="val 22137" name="adj"/>
            </a:avLst>
          </a:prstGeom>
          <a:noFill/>
          <a:ln cap="flat" cmpd="sng" w="9525">
            <a:solidFill>
              <a:srgbClr val="C913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685981" y="523478"/>
            <a:ext cx="967259" cy="830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rgbClr val="C91313"/>
              </a:buClr>
              <a:buSzPts val="550"/>
              <a:buFont typeface="DM Sans"/>
              <a:buNone/>
            </a:pPr>
            <a:r>
              <a:rPr b="0" i="0" lang="en-US" sz="550" u="none" cap="none" strike="noStrike">
                <a:solidFill>
                  <a:srgbClr val="C91313"/>
                </a:solidFill>
                <a:latin typeface="DM Sans"/>
                <a:ea typeface="DM Sans"/>
                <a:cs typeface="DM Sans"/>
                <a:sym typeface="DM Sans"/>
              </a:rPr>
              <a:t>TAKEAWAY</a:t>
            </a:r>
            <a:endParaRPr b="0" i="0" sz="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94" name="Google Shape;29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1908" y="1066701"/>
            <a:ext cx="5353809" cy="5353943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4"/>
          <p:cNvSpPr/>
          <p:nvPr/>
        </p:nvSpPr>
        <p:spPr>
          <a:xfrm>
            <a:off x="6347658" y="3615035"/>
            <a:ext cx="5828063" cy="108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r>
              <a:t/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4"/>
          <p:cNvSpPr/>
          <p:nvPr/>
        </p:nvSpPr>
        <p:spPr>
          <a:xfrm>
            <a:off x="6212327" y="3574455"/>
            <a:ext cx="12700" cy="189508"/>
          </a:xfrm>
          <a:prstGeom prst="roundRect">
            <a:avLst>
              <a:gd fmla="val 49999" name="adj"/>
            </a:avLst>
          </a:prstGeom>
          <a:solidFill>
            <a:srgbClr val="C913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631908" y="651470"/>
            <a:ext cx="10927878" cy="2968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1850"/>
              <a:buFont typeface="Dela Gothic One"/>
              <a:buNone/>
            </a:pPr>
            <a:r>
              <a:rPr b="0" i="0" lang="en-US" sz="18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You Don't Need to Memorize Networking. Follow the Data.</a:t>
            </a:r>
            <a:endParaRPr b="0" i="0" sz="1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6212327" y="3814663"/>
            <a:ext cx="5963394" cy="1083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5E5"/>
              </a:buClr>
              <a:buSzPts val="700"/>
              <a:buFont typeface="DM Sans"/>
              <a:buNone/>
            </a:pPr>
            <a:r>
              <a:t/>
            </a:r>
            <a:endParaRPr b="0" i="0" sz="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/>
          <p:nvPr/>
        </p:nvSpPr>
        <p:spPr>
          <a:xfrm>
            <a:off x="631908" y="6420662"/>
            <a:ext cx="10927800" cy="40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AEBEB"/>
              </a:buClr>
              <a:buSzPts val="2550"/>
              <a:buFont typeface="Dela Gothic One"/>
              <a:buNone/>
            </a:pPr>
            <a:r>
              <a:rPr b="0" i="0" lang="en-US" sz="2550" u="none" cap="none" strike="noStrike">
                <a:solidFill>
                  <a:srgbClr val="FAEBEB"/>
                </a:solidFill>
                <a:latin typeface="Dela Gothic One"/>
                <a:ea typeface="Dela Gothic One"/>
                <a:cs typeface="Dela Gothic One"/>
                <a:sym typeface="Dela Gothic One"/>
              </a:rPr>
              <a:t>Questions?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00" name="Google Shape;300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09997" y="501253"/>
            <a:ext cx="4391510" cy="58554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