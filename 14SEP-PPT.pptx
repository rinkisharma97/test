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15"/>
  </p:notesMasterIdLst>
  <p:sldIdLst>
    <p:sldId id="256" r:id="rId2"/>
    <p:sldId id="257" r:id="rId3"/>
    <p:sldId id="259" r:id="rId4"/>
    <p:sldId id="268" r:id="rId5"/>
    <p:sldId id="260" r:id="rId6"/>
    <p:sldId id="262" r:id="rId7"/>
    <p:sldId id="267" r:id="rId8"/>
    <p:sldId id="272" r:id="rId9"/>
    <p:sldId id="271" r:id="rId10"/>
    <p:sldId id="263" r:id="rId11"/>
    <p:sldId id="269" r:id="rId12"/>
    <p:sldId id="270" r:id="rId13"/>
    <p:sldId id="266" r:id="rId14"/>
  </p:sldIdLst>
  <p:sldSz cx="12192000" cy="6858000"/>
  <p:notesSz cx="6858000" cy="12192000"/>
  <p:embeddedFontLst>
    <p:embeddedFont>
      <p:font typeface="Dela Gothic One" panose="020B0604020202020204" charset="-128"/>
      <p:regular r:id="rId16"/>
    </p:embeddedFont>
    <p:embeddedFont>
      <p:font typeface="Arial Nova Light" panose="020B0304020202020204" pitchFamily="34" charset="0"/>
      <p:regular r:id="rId17"/>
    </p:embeddedFon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DM Sans" pitchFamily="2" charset="0"/>
      <p:regular r:id="rId22"/>
      <p:bold r:id="rId23"/>
      <p:italic r:id="rId24"/>
      <p:boldItalic r:id="rId25"/>
    </p:embeddedFont>
    <p:embeddedFont>
      <p:font typeface="DM Sans Bold" pitchFamily="2" charset="0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714" y="-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409df33c083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" name="Google Shape;26;g409df33c083_1_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g409df33c083_1_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>
          <a:extLst>
            <a:ext uri="{FF2B5EF4-FFF2-40B4-BE49-F238E27FC236}">
              <a16:creationId xmlns:a16="http://schemas.microsoft.com/office/drawing/2014/main" id="{206C5375-7A60-CEA4-1BAD-FB742588E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>
            <a:extLst>
              <a:ext uri="{FF2B5EF4-FFF2-40B4-BE49-F238E27FC236}">
                <a16:creationId xmlns:a16="http://schemas.microsoft.com/office/drawing/2014/main" id="{7D4F611B-012F-3057-4276-989AF122BC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:notes">
            <a:extLst>
              <a:ext uri="{FF2B5EF4-FFF2-40B4-BE49-F238E27FC236}">
                <a16:creationId xmlns:a16="http://schemas.microsoft.com/office/drawing/2014/main" id="{80AD1964-0AEE-CFE9-C352-3A11551E3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:notes">
            <a:extLst>
              <a:ext uri="{FF2B5EF4-FFF2-40B4-BE49-F238E27FC236}">
                <a16:creationId xmlns:a16="http://schemas.microsoft.com/office/drawing/2014/main" id="{0726E251-4E03-5FD7-6AB0-82376ABB6F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99852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9/15/2026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5696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EE6BAA-0080-49BB-A5F6-D96B22DFE410}" type="datetime1">
              <a:rPr lang="en-US" smtClean="0"/>
              <a:t>9/15/2026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573373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8179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9/15/2026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962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5798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9/15/2026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502188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515BC3-2A9C-497B-B82C-246EEDDDF89C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65829423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58158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3E08220-0958-4EB6-84AC-FBA5654D4035}" type="datetime1">
              <a:rPr lang="en-US" smtClean="0"/>
              <a:t>9/15/2026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9269901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37D881E9-FF16-48A7-B8AA-A17AAAEAD6E1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50084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862C1B48-5712-40E8-928E-1136C5D12A17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35524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2BDF39F2-6977-4B14-98E3-4DFE82804B0D}" type="datetime1">
              <a:rPr lang="en-US" smtClean="0"/>
              <a:t>9/15/2026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3749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1B48-5712-40E8-928E-1136C5D12A17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47439901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23EC03A-74B3-46B6-A70D-0B367EABDC7F}" type="datetime1">
              <a:rPr lang="en-US" smtClean="0"/>
              <a:t>9/15/2026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410986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D6F66A7C-2450-4D43-AEC7-53AFAE9E8A03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62273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FBC323F5-F813-45BA-B261-A7C41DB03AE5}" type="datetime1">
              <a:rPr lang="en-US" smtClean="0"/>
              <a:t>9/15/2026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108306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1">
              <a:rPr lang="en-US" smtClean="0"/>
              <a:t>9/15/2026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482221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1">
              <a:rPr lang="en-US" smtClean="0"/>
              <a:t>9/15/2026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2720485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B77AD4-7B4F-4A76-ADEB-9CF6601338DB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2095800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0CC3F-E257-4F6E-9E6A-B96D887699EC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55958326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BDAA3E-BE52-42BC-99E8-CCCB81A57ABD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5170824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B1491A9-BF26-4517-AB22-6183D453A902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722463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A5024DF-23AF-419A-978A-28215FBF1E37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1186724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B01CFC0-D171-4F9D-A610-2F47C1080058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30435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9/15/2026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93597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42483-B3E3-4399-B6B2-4B1D067F8CE5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177089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6574F-2CAD-411B-9EF3-12D0DF2C09EB}" type="datetime1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595357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3493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A2CEDE-2AB4-4FB8-9551-E0AA4222B1A3}" type="datetime1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086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26" Type="http://schemas.openxmlformats.org/officeDocument/2006/relationships/image" Target="../media/image38.png"/><Relationship Id="rId3" Type="http://schemas.openxmlformats.org/officeDocument/2006/relationships/image" Target="../media/image15.png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5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24" Type="http://schemas.openxmlformats.org/officeDocument/2006/relationships/image" Target="../media/image36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23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1.svg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3081776" y="2545060"/>
            <a:ext cx="6355993" cy="524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04000"/>
              </a:lnSpc>
              <a:buClr>
                <a:srgbClr val="FAEBEB"/>
              </a:buClr>
              <a:buSzPts val="4800"/>
            </a:pPr>
            <a:r>
              <a:rPr lang="en-US" sz="3600" dirty="0">
                <a:solidFill>
                  <a:srgbClr val="FAEBEB"/>
                </a:solidFill>
                <a:latin typeface="Dela Gothic One"/>
                <a:ea typeface="Dela Gothic One"/>
                <a:cs typeface="Calibri"/>
                <a:sym typeface="Dela Gothic One"/>
              </a:rPr>
              <a:t>INDUSTRIAL NETWORKING AND SCADA</a:t>
            </a:r>
            <a:endParaRPr lang="en-US"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4"/>
          <p:cNvSpPr/>
          <p:nvPr/>
        </p:nvSpPr>
        <p:spPr>
          <a:xfrm>
            <a:off x="5203794" y="4050605"/>
            <a:ext cx="6355993" cy="2304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800"/>
              <a:buFont typeface="Dela Gothic One"/>
              <a:buNone/>
            </a:pP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4571886" cy="6857998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/>
          <p:nvPr/>
        </p:nvSpPr>
        <p:spPr>
          <a:xfrm>
            <a:off x="5203794" y="502543"/>
            <a:ext cx="1977000" cy="257100"/>
          </a:xfrm>
          <a:prstGeom prst="roundRect">
            <a:avLst>
              <a:gd name="adj" fmla="val 22123"/>
            </a:avLst>
          </a:prstGeom>
          <a:solidFill>
            <a:srgbClr val="4607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5"/>
          <p:cNvSpPr/>
          <p:nvPr/>
        </p:nvSpPr>
        <p:spPr>
          <a:xfrm>
            <a:off x="5305292" y="553244"/>
            <a:ext cx="2383500" cy="1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lang="en-US" sz="105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INTERNAL INCIDENT REPORT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5"/>
          <p:cNvSpPr/>
          <p:nvPr/>
        </p:nvSpPr>
        <p:spPr>
          <a:xfrm>
            <a:off x="5203794" y="823020"/>
            <a:ext cx="6356100" cy="22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00"/>
              <a:buFont typeface="Dela Gothic One"/>
              <a:buNone/>
            </a:pPr>
            <a:r>
              <a:rPr lang="en-US" sz="350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The PLC is Healthy. SCADA is Healthy. So Why Can't We See the Data?</a:t>
            </a:r>
            <a:endParaRPr sz="3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5203794" y="3287911"/>
            <a:ext cx="63561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None/>
            </a:pPr>
            <a:r>
              <a:rPr lang="en-US" sz="1300" b="1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Bearing Temperature Sensor = 78°C</a:t>
            </a:r>
            <a:r>
              <a:rPr lang="en-US" sz="130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· SCADA displays: </a:t>
            </a:r>
            <a:r>
              <a:rPr lang="en-US" sz="1300" b="0" i="0" u="none" strike="noStrike" cap="non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COMMUNICATION FAILURE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5203794" y="4050605"/>
            <a:ext cx="6356100" cy="23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800"/>
              <a:buFont typeface="Dela Gothic One"/>
              <a:buNone/>
            </a:pPr>
            <a:r>
              <a:rPr lang="en-US" sz="4800" b="0" i="0" u="none" strike="noStrike" cap="none" dirty="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WHERE DID THE COMMUNICATION BREAK?</a:t>
            </a:r>
            <a:endParaRPr sz="4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5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7"/>
          <p:cNvSpPr/>
          <p:nvPr/>
        </p:nvSpPr>
        <p:spPr>
          <a:xfrm>
            <a:off x="631908" y="496491"/>
            <a:ext cx="869730" cy="137021"/>
          </a:xfrm>
          <a:prstGeom prst="roundRect">
            <a:avLst>
              <a:gd name="adj" fmla="val 22137"/>
            </a:avLst>
          </a:prstGeom>
          <a:noFill/>
          <a:ln w="9525" cap="flat" cmpd="sng">
            <a:solidFill>
              <a:srgbClr val="C913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685981" y="523478"/>
            <a:ext cx="1371169" cy="83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550"/>
              <a:buFont typeface="DM Sans"/>
              <a:buNone/>
            </a:pPr>
            <a:r>
              <a:rPr lang="en-US" sz="550" b="0" i="0" u="none" strike="noStrike" cap="non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STEP 2 — ADDRESSING</a:t>
            </a:r>
            <a:endParaRPr sz="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lang="en-US" sz="1850" b="0" i="0" u="none" strike="noStrike" cap="none" dirty="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An IP Address Is More Than Just a Number</a:t>
            </a:r>
            <a:endParaRPr sz="1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Google Shape;68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1908" y="1066701"/>
            <a:ext cx="535380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7"/>
          <p:cNvSpPr/>
          <p:nvPr/>
        </p:nvSpPr>
        <p:spPr>
          <a:xfrm>
            <a:off x="6224662" y="1346996"/>
            <a:ext cx="5353809" cy="148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900"/>
              <a:buFont typeface="Dela Gothic One"/>
              <a:buNone/>
            </a:pPr>
            <a:r>
              <a:rPr lang="en-US" sz="90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Four Numbers. One Delivery Path.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7"/>
          <p:cNvSpPr/>
          <p:nvPr/>
        </p:nvSpPr>
        <p:spPr>
          <a:xfrm>
            <a:off x="6095847" y="1653790"/>
            <a:ext cx="53538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42240" marR="0" lvl="0" indent="-1422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Char char="•"/>
            </a:pPr>
            <a:r>
              <a:rPr lang="en-US" sz="900" b="1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IP Address</a:t>
            </a:r>
            <a:r>
              <a:rPr lang="en-US" sz="9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logical identity on the network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42240" marR="0" lvl="0" indent="-1422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Char char="•"/>
            </a:pPr>
            <a:r>
              <a:rPr lang="en-US" sz="900" b="1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Subnet Mask</a:t>
            </a:r>
            <a:r>
              <a:rPr lang="en-US" sz="9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defines what's "local"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42240" marR="0" lvl="0" indent="-1422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Char char="•"/>
            </a:pPr>
            <a:r>
              <a:rPr lang="en-US" sz="900" b="1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Network</a:t>
            </a:r>
            <a:r>
              <a:rPr lang="en-US" sz="9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shared segment = direct delivery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42240" marR="0" lvl="0" indent="-1422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Char char="•"/>
            </a:pPr>
            <a:r>
              <a:rPr lang="en-US" sz="900" b="1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Default Gateway</a:t>
            </a:r>
            <a:r>
              <a:rPr lang="en-US" sz="9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exits the local network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7"/>
          <p:cNvSpPr/>
          <p:nvPr/>
        </p:nvSpPr>
        <p:spPr>
          <a:xfrm>
            <a:off x="6157395" y="2292753"/>
            <a:ext cx="5963394" cy="108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rPr lang="en-US" sz="7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Our PLC (</a:t>
            </a:r>
            <a:r>
              <a:rPr lang="en-US" sz="700" b="0" i="0" u="none" strike="noStrike" cap="none" dirty="0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10.10.10.20</a:t>
            </a:r>
            <a:r>
              <a:rPr lang="en-US" sz="7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) and SCADA (</a:t>
            </a:r>
            <a:r>
              <a:rPr lang="en-US" sz="700" b="0" i="0" u="none" strike="noStrike" cap="none" dirty="0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10.10.10.100</a:t>
            </a:r>
            <a:r>
              <a:rPr lang="en-US" sz="700" b="0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) share the same subnet — delivery should be direct.</a:t>
            </a:r>
            <a:endParaRPr sz="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D2410-EC6B-6E47-7185-CE45B1C70391}"/>
              </a:ext>
            </a:extLst>
          </p:cNvPr>
          <p:cNvSpPr txBox="1"/>
          <p:nvPr/>
        </p:nvSpPr>
        <p:spPr>
          <a:xfrm>
            <a:off x="6157394" y="3372287"/>
            <a:ext cx="4269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Dela Gothic One" panose="020B0604020202020204" charset="-128"/>
                <a:ea typeface="Dela Gothic One" panose="020B0604020202020204" charset="-128"/>
              </a:rPr>
              <a:t>PORTS — IP IS NOT THE WHOLE STORY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692D99-059F-15E3-79FF-D6A53E027BE4}"/>
              </a:ext>
            </a:extLst>
          </p:cNvPr>
          <p:cNvSpPr txBox="1"/>
          <p:nvPr/>
        </p:nvSpPr>
        <p:spPr>
          <a:xfrm>
            <a:off x="6193833" y="3649286"/>
            <a:ext cx="39405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IP identifies the host; the port identifies the service endpoint.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051F9A-452E-37B5-63F7-5730D4A054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662" y="4121453"/>
            <a:ext cx="4858428" cy="19671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1908" y="526157"/>
            <a:ext cx="10927878" cy="1002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Before Networking: What Does One Device Need to Talk to Another?</a:t>
            </a:r>
            <a:endParaRPr lang="en-US"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indent="0" algn="l">
              <a:lnSpc>
                <a:spcPct val="104000"/>
              </a:lnSpc>
              <a:buNone/>
            </a:pP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31908" y="1785441"/>
            <a:ext cx="11537463" cy="224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Before a single byte moves, every device on the network must resolve four fundamental questions. Miss one, and the data never arrives.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31908" y="2154634"/>
            <a:ext cx="5399647" cy="1679674"/>
          </a:xfrm>
          <a:prstGeom prst="roundRect">
            <a:avLst>
              <a:gd name="adj" fmla="val 3809"/>
            </a:avLst>
          </a:prstGeom>
          <a:solidFill>
            <a:srgbClr val="740B0B"/>
          </a:solidFill>
          <a:ln w="6350">
            <a:solidFill>
              <a:srgbClr val="8D24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90555" y="2313285"/>
            <a:ext cx="456990" cy="457002"/>
          </a:xfrm>
          <a:prstGeom prst="ellipse">
            <a:avLst/>
          </a:prstGeom>
          <a:solidFill>
            <a:srgbClr val="C9131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262" y="2438995"/>
            <a:ext cx="205576" cy="2055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0555" y="2898775"/>
            <a:ext cx="5082353" cy="250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C91313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WHO?</a:t>
            </a:r>
            <a:r>
              <a:rPr lang="en-US" sz="15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 Identity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90555" y="3226395"/>
            <a:ext cx="5082353" cy="224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MAC address on the local segment; IP address on the network layer.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60040" y="2154634"/>
            <a:ext cx="5399746" cy="1679674"/>
          </a:xfrm>
          <a:prstGeom prst="roundRect">
            <a:avLst>
              <a:gd name="adj" fmla="val 3809"/>
            </a:avLst>
          </a:prstGeom>
          <a:solidFill>
            <a:srgbClr val="740B0B"/>
          </a:solidFill>
          <a:ln w="6350">
            <a:solidFill>
              <a:srgbClr val="8D24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6318687" y="2313285"/>
            <a:ext cx="456990" cy="457002"/>
          </a:xfrm>
          <a:prstGeom prst="ellipse">
            <a:avLst/>
          </a:prstGeom>
          <a:solidFill>
            <a:srgbClr val="C9131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4394" y="2438995"/>
            <a:ext cx="205576" cy="2055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18687" y="2898775"/>
            <a:ext cx="5082453" cy="250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C91313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WHERE?</a:t>
            </a:r>
            <a:r>
              <a:rPr lang="en-US" sz="15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 Location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318687" y="3226395"/>
            <a:ext cx="5082453" cy="449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Subnet defines "local." Default gateway routes all traffic beyond the segment.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31908" y="3962797"/>
            <a:ext cx="5399647" cy="1679674"/>
          </a:xfrm>
          <a:prstGeom prst="roundRect">
            <a:avLst>
              <a:gd name="adj" fmla="val 3809"/>
            </a:avLst>
          </a:prstGeom>
          <a:solidFill>
            <a:srgbClr val="740B0B"/>
          </a:solidFill>
          <a:ln w="6350">
            <a:solidFill>
              <a:srgbClr val="8D24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790555" y="4121448"/>
            <a:ext cx="456990" cy="457002"/>
          </a:xfrm>
          <a:prstGeom prst="ellipse">
            <a:avLst/>
          </a:prstGeom>
          <a:solidFill>
            <a:srgbClr val="C9131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6262" y="4247158"/>
            <a:ext cx="205576" cy="2055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90555" y="4706938"/>
            <a:ext cx="5082353" cy="250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C91313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WHICH SERVICE?</a:t>
            </a:r>
            <a:r>
              <a:rPr lang="en-US" sz="15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 Port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90555" y="5034558"/>
            <a:ext cx="5082353" cy="449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 number identifies the application endpoint — Modbus TCP, OPC UA, HTTPS.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60040" y="3962797"/>
            <a:ext cx="5399746" cy="1679674"/>
          </a:xfrm>
          <a:prstGeom prst="roundRect">
            <a:avLst>
              <a:gd name="adj" fmla="val 3809"/>
            </a:avLst>
          </a:prstGeom>
          <a:solidFill>
            <a:srgbClr val="740B0B"/>
          </a:solidFill>
          <a:ln w="6350">
            <a:solidFill>
              <a:srgbClr val="8D24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6318687" y="4121448"/>
            <a:ext cx="456990" cy="457002"/>
          </a:xfrm>
          <a:prstGeom prst="ellipse">
            <a:avLst/>
          </a:prstGeom>
          <a:solidFill>
            <a:srgbClr val="C9131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44394" y="4247158"/>
            <a:ext cx="205576" cy="20558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18687" y="4706938"/>
            <a:ext cx="5082453" cy="250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C91313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HOW?</a:t>
            </a:r>
            <a:r>
              <a:rPr lang="en-US" sz="15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 Protocol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318687" y="5034558"/>
            <a:ext cx="5082453" cy="449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language both sides must agree on — Modbus TCP, OPC UA, and others.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31908" y="5787033"/>
            <a:ext cx="10927878" cy="544711"/>
          </a:xfrm>
          <a:prstGeom prst="roundRect">
            <a:avLst>
              <a:gd name="adj" fmla="val 11746"/>
            </a:avLst>
          </a:prstGeom>
          <a:solidFill>
            <a:srgbClr val="740B0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205" y="5972572"/>
            <a:ext cx="190396" cy="15230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26898" y="5953522"/>
            <a:ext cx="10890176" cy="224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running example: a PLC reads </a:t>
            </a:r>
            <a:r>
              <a:rPr lang="en-US" sz="11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78°C</a:t>
            </a: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All four questions must be answered for that value to reach the operator screen.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"/>
          <p:cNvSpPr/>
          <p:nvPr/>
        </p:nvSpPr>
        <p:spPr>
          <a:xfrm>
            <a:off x="631908" y="505916"/>
            <a:ext cx="1217086" cy="162818"/>
          </a:xfrm>
          <a:prstGeom prst="roundRect">
            <a:avLst>
              <a:gd name="adj" fmla="val 22122"/>
            </a:avLst>
          </a:prstGeom>
          <a:noFill/>
          <a:ln w="9525" cap="flat" cmpd="sng">
            <a:solidFill>
              <a:srgbClr val="C913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8"/>
          <p:cNvSpPr/>
          <p:nvPr/>
        </p:nvSpPr>
        <p:spPr>
          <a:xfrm>
            <a:off x="696201" y="538063"/>
            <a:ext cx="1698086" cy="9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650"/>
              <a:buFont typeface="DM Sans"/>
              <a:buNone/>
            </a:pPr>
            <a:r>
              <a:rPr lang="en-US" sz="650" b="0" i="0" u="none" strike="noStrike" cap="non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STEP 3 — INFRASTRUCTURE</a:t>
            </a: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631908" y="694134"/>
            <a:ext cx="10927878" cy="35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200"/>
              <a:buFont typeface="Dela Gothic One"/>
              <a:buNone/>
            </a:pPr>
            <a:r>
              <a:rPr lang="en-US" sz="220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Who Moves the Data?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8"/>
          <p:cNvSpPr/>
          <p:nvPr/>
        </p:nvSpPr>
        <p:spPr>
          <a:xfrm>
            <a:off x="631908" y="1142107"/>
            <a:ext cx="11537463" cy="136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00"/>
              <a:buFont typeface="DM Sans"/>
              <a:buNone/>
            </a:pPr>
            <a:r>
              <a:rPr lang="en-US" sz="80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Three devices stand between our PLC and SCADA. Each makes a </a:t>
            </a:r>
            <a:r>
              <a:rPr lang="en-US" sz="800" b="1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decision</a:t>
            </a:r>
            <a:r>
              <a:rPr lang="en-US" sz="80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not a dictionary definition.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" name="Google Shape;83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1908" y="1350268"/>
            <a:ext cx="10927878" cy="479365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8"/>
          <p:cNvSpPr/>
          <p:nvPr/>
        </p:nvSpPr>
        <p:spPr>
          <a:xfrm>
            <a:off x="3943677" y="4752835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lang="en-US" sz="195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Router</a:t>
            </a:r>
            <a:endParaRPr sz="1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3943677" y="5148287"/>
            <a:ext cx="1651593" cy="565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lang="en-US" sz="145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Reads IP, connects networks, selects path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9190397" y="4941278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lang="en-US" sz="195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SCADA</a:t>
            </a:r>
            <a:endParaRPr sz="1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8"/>
          <p:cNvSpPr/>
          <p:nvPr/>
        </p:nvSpPr>
        <p:spPr>
          <a:xfrm>
            <a:off x="9190397" y="5336731"/>
            <a:ext cx="1651593" cy="376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lang="en-US" sz="145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Receives data from the network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8"/>
          <p:cNvSpPr/>
          <p:nvPr/>
        </p:nvSpPr>
        <p:spPr>
          <a:xfrm>
            <a:off x="1378147" y="1781109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lang="en-US" sz="195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Switch</a:t>
            </a:r>
            <a:endParaRPr sz="1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1378147" y="2176561"/>
            <a:ext cx="1651593" cy="565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lang="en-US" sz="145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Reads MAC, forwards within LAN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8"/>
          <p:cNvSpPr/>
          <p:nvPr/>
        </p:nvSpPr>
        <p:spPr>
          <a:xfrm>
            <a:off x="6603837" y="1781109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lang="en-US" sz="195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Firewall</a:t>
            </a:r>
            <a:endParaRPr sz="1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8"/>
          <p:cNvSpPr/>
          <p:nvPr/>
        </p:nvSpPr>
        <p:spPr>
          <a:xfrm>
            <a:off x="6603837" y="2176561"/>
            <a:ext cx="1651593" cy="376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lang="en-US" sz="145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Inspects traffic, allows or blocks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8"/>
          <p:cNvSpPr/>
          <p:nvPr/>
        </p:nvSpPr>
        <p:spPr>
          <a:xfrm>
            <a:off x="631908" y="6215459"/>
            <a:ext cx="11537463" cy="136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00"/>
              <a:buFont typeface="DM Sans"/>
              <a:buNone/>
            </a:pPr>
            <a:r>
              <a:rPr lang="en-US" sz="80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Each device either </a:t>
            </a:r>
            <a:r>
              <a:rPr lang="en-US" sz="800" b="0" i="0" u="none" strike="noStrike" cap="none">
                <a:solidFill>
                  <a:srgbClr val="22C55E"/>
                </a:solidFill>
                <a:latin typeface="DM Sans"/>
                <a:ea typeface="DM Sans"/>
                <a:cs typeface="DM Sans"/>
                <a:sym typeface="DM Sans"/>
              </a:rPr>
              <a:t>passes the data through</a:t>
            </a:r>
            <a:r>
              <a:rPr lang="en-US" sz="80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or </a:t>
            </a:r>
            <a:r>
              <a:rPr lang="en-US" sz="800" b="0" i="0" u="none" strike="noStrike" cap="non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stops it cold</a:t>
            </a:r>
            <a:r>
              <a:rPr lang="en-US" sz="800" b="0" i="0" u="none" strike="noStrike" cap="non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8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8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/>
          <p:nvPr/>
        </p:nvSpPr>
        <p:spPr>
          <a:xfrm>
            <a:off x="631908" y="496491"/>
            <a:ext cx="947912" cy="137021"/>
          </a:xfrm>
          <a:prstGeom prst="roundRect">
            <a:avLst>
              <a:gd name="adj" fmla="val 22137"/>
            </a:avLst>
          </a:prstGeom>
          <a:noFill/>
          <a:ln w="9525" cap="flat" cmpd="sng">
            <a:solidFill>
              <a:srgbClr val="C913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0"/>
          <p:cNvSpPr/>
          <p:nvPr/>
        </p:nvSpPr>
        <p:spPr>
          <a:xfrm>
            <a:off x="685981" y="523478"/>
            <a:ext cx="1449351" cy="83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550"/>
              <a:buFont typeface="DM Sans"/>
              <a:buNone/>
            </a:pPr>
            <a:r>
              <a:rPr lang="en-US" sz="550" b="0" i="0" u="none" strike="noStrike" cap="non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STEP 5 — ARCHITECTURE</a:t>
            </a:r>
            <a:endParaRPr sz="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0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lang="en-US" sz="185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So Where Does SCADA Actually Fit?</a:t>
            </a:r>
            <a:endParaRPr sz="1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7694" y="724495"/>
            <a:ext cx="558041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6212327" y="3520480"/>
            <a:ext cx="5353809" cy="148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900"/>
              <a:buFont typeface="Dela Gothic One"/>
              <a:buNone/>
            </a:pP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0"/>
          <p:cNvSpPr/>
          <p:nvPr/>
        </p:nvSpPr>
        <p:spPr>
          <a:xfrm>
            <a:off x="6811709" y="5411507"/>
            <a:ext cx="4657640" cy="295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rPr lang="en-US" sz="1050" b="1" i="0" u="none" strike="noStrike" cap="none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Sensor → PLC → Protocol → TCP/IP → SCADA Driver → Tag → HMI</a:t>
            </a:r>
            <a:endParaRPr sz="10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0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0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F36DA2-3220-F8F9-8521-738E170047DC}"/>
              </a:ext>
            </a:extLst>
          </p:cNvPr>
          <p:cNvSpPr txBox="1"/>
          <p:nvPr/>
        </p:nvSpPr>
        <p:spPr>
          <a:xfrm>
            <a:off x="631908" y="1200100"/>
            <a:ext cx="5094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Let's Follow One Piece of Data</a:t>
            </a:r>
            <a:endParaRPr lang="en-US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Trace </a:t>
            </a:r>
            <a:r>
              <a:rPr lang="en-US" sz="1200" b="1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78°C</a:t>
            </a:r>
            <a:r>
              <a:rPr lang="en-US" sz="1200" dirty="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from sensor to screen. At which point could it disappear?</a:t>
            </a:r>
            <a:endParaRPr lang="en-US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46;p12">
            <a:extLst>
              <a:ext uri="{FF2B5EF4-FFF2-40B4-BE49-F238E27FC236}">
                <a16:creationId xmlns:a16="http://schemas.microsoft.com/office/drawing/2014/main" id="{2DD0458F-43C3-9528-5419-EDDD38615882}"/>
              </a:ext>
            </a:extLst>
          </p:cNvPr>
          <p:cNvSpPr/>
          <p:nvPr/>
        </p:nvSpPr>
        <p:spPr>
          <a:xfrm>
            <a:off x="631908" y="200203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lang="en-US" sz="1250" b="0" i="0" u="none" strike="noStrike" cap="non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01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47;p12">
            <a:extLst>
              <a:ext uri="{FF2B5EF4-FFF2-40B4-BE49-F238E27FC236}">
                <a16:creationId xmlns:a16="http://schemas.microsoft.com/office/drawing/2014/main" id="{189ADD9B-7303-9AC9-E349-A8B841DEF7DE}"/>
              </a:ext>
            </a:extLst>
          </p:cNvPr>
          <p:cNvSpPr/>
          <p:nvPr/>
        </p:nvSpPr>
        <p:spPr>
          <a:xfrm>
            <a:off x="631909" y="2256234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48;p12">
            <a:extLst>
              <a:ext uri="{FF2B5EF4-FFF2-40B4-BE49-F238E27FC236}">
                <a16:creationId xmlns:a16="http://schemas.microsoft.com/office/drawing/2014/main" id="{5774143F-C97E-F44F-1794-88ECCD6857EB}"/>
              </a:ext>
            </a:extLst>
          </p:cNvPr>
          <p:cNvSpPr/>
          <p:nvPr/>
        </p:nvSpPr>
        <p:spPr>
          <a:xfrm>
            <a:off x="631908" y="2374702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lang="en-US" sz="110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Temperature Sensor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49;p12">
            <a:extLst>
              <a:ext uri="{FF2B5EF4-FFF2-40B4-BE49-F238E27FC236}">
                <a16:creationId xmlns:a16="http://schemas.microsoft.com/office/drawing/2014/main" id="{E357248D-0A2B-5F2C-E0BE-19AF52698177}"/>
              </a:ext>
            </a:extLst>
          </p:cNvPr>
          <p:cNvSpPr/>
          <p:nvPr/>
        </p:nvSpPr>
        <p:spPr>
          <a:xfrm>
            <a:off x="631908" y="2577172"/>
            <a:ext cx="842050" cy="185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000" b="0" i="0" u="none" strike="noStrike" cap="none" dirty="0">
                <a:solidFill>
                  <a:srgbClr val="FFE5E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DM Sans"/>
              </a:rPr>
              <a:t>Reads 78°C</a:t>
            </a:r>
            <a:endParaRPr sz="10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3" name="Google Shape;150;p12">
            <a:extLst>
              <a:ext uri="{FF2B5EF4-FFF2-40B4-BE49-F238E27FC236}">
                <a16:creationId xmlns:a16="http://schemas.microsoft.com/office/drawing/2014/main" id="{D002DF16-65ED-D90B-396D-DFDDD0D21CC2}"/>
              </a:ext>
            </a:extLst>
          </p:cNvPr>
          <p:cNvSpPr/>
          <p:nvPr/>
        </p:nvSpPr>
        <p:spPr>
          <a:xfrm>
            <a:off x="3880466" y="2055553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lang="en-US" sz="125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02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52;p12">
            <a:extLst>
              <a:ext uri="{FF2B5EF4-FFF2-40B4-BE49-F238E27FC236}">
                <a16:creationId xmlns:a16="http://schemas.microsoft.com/office/drawing/2014/main" id="{CE2E1E49-8925-834E-F972-2C93AD34BF46}"/>
              </a:ext>
            </a:extLst>
          </p:cNvPr>
          <p:cNvSpPr/>
          <p:nvPr/>
        </p:nvSpPr>
        <p:spPr>
          <a:xfrm>
            <a:off x="3880466" y="2361208"/>
            <a:ext cx="1013468" cy="21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lang="en-US" sz="110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PLC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53;p12">
            <a:extLst>
              <a:ext uri="{FF2B5EF4-FFF2-40B4-BE49-F238E27FC236}">
                <a16:creationId xmlns:a16="http://schemas.microsoft.com/office/drawing/2014/main" id="{23BDBF77-8B40-531B-6DE0-B27A99090ED1}"/>
              </a:ext>
            </a:extLst>
          </p:cNvPr>
          <p:cNvSpPr/>
          <p:nvPr/>
        </p:nvSpPr>
        <p:spPr>
          <a:xfrm>
            <a:off x="3836650" y="2521490"/>
            <a:ext cx="2005031" cy="203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000" b="0" i="0" u="none" strike="noStrike" cap="none" dirty="0">
                <a:solidFill>
                  <a:srgbClr val="FFE5E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DM Sans"/>
              </a:rPr>
              <a:t>Holds value in register</a:t>
            </a:r>
            <a:endParaRPr sz="10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1" name="Google Shape;154;p12">
            <a:extLst>
              <a:ext uri="{FF2B5EF4-FFF2-40B4-BE49-F238E27FC236}">
                <a16:creationId xmlns:a16="http://schemas.microsoft.com/office/drawing/2014/main" id="{D90652C7-36EB-7F91-98F2-97B330EEDEC4}"/>
              </a:ext>
            </a:extLst>
          </p:cNvPr>
          <p:cNvSpPr/>
          <p:nvPr/>
        </p:nvSpPr>
        <p:spPr>
          <a:xfrm>
            <a:off x="631908" y="3232051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lang="en-US" sz="1250" b="0" i="0" u="none" strike="noStrike" cap="non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03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156;p12">
            <a:extLst>
              <a:ext uri="{FF2B5EF4-FFF2-40B4-BE49-F238E27FC236}">
                <a16:creationId xmlns:a16="http://schemas.microsoft.com/office/drawing/2014/main" id="{D754413E-473D-B9C2-E93C-DD488671A338}"/>
              </a:ext>
            </a:extLst>
          </p:cNvPr>
          <p:cNvSpPr/>
          <p:nvPr/>
        </p:nvSpPr>
        <p:spPr>
          <a:xfrm>
            <a:off x="631908" y="3604716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lang="en-US" sz="110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Industrial Protocol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57;p12">
            <a:extLst>
              <a:ext uri="{FF2B5EF4-FFF2-40B4-BE49-F238E27FC236}">
                <a16:creationId xmlns:a16="http://schemas.microsoft.com/office/drawing/2014/main" id="{ECC2E023-9D93-1507-771B-E2631EEC4251}"/>
              </a:ext>
            </a:extLst>
          </p:cNvPr>
          <p:cNvSpPr/>
          <p:nvPr/>
        </p:nvSpPr>
        <p:spPr>
          <a:xfrm>
            <a:off x="643500" y="3787129"/>
            <a:ext cx="1660916" cy="195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000" b="0" i="0" u="none" strike="noStrike" cap="none" dirty="0">
                <a:solidFill>
                  <a:srgbClr val="FFE5E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DM Sans"/>
              </a:rPr>
              <a:t>Modbus TCP / OPC UA</a:t>
            </a:r>
            <a:endParaRPr sz="10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9" name="Google Shape;158;p12">
            <a:extLst>
              <a:ext uri="{FF2B5EF4-FFF2-40B4-BE49-F238E27FC236}">
                <a16:creationId xmlns:a16="http://schemas.microsoft.com/office/drawing/2014/main" id="{0E18FC6E-0722-D212-832E-E554851649EE}"/>
              </a:ext>
            </a:extLst>
          </p:cNvPr>
          <p:cNvSpPr/>
          <p:nvPr/>
        </p:nvSpPr>
        <p:spPr>
          <a:xfrm>
            <a:off x="3831651" y="3232051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lang="en-US" sz="125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04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160;p12">
            <a:extLst>
              <a:ext uri="{FF2B5EF4-FFF2-40B4-BE49-F238E27FC236}">
                <a16:creationId xmlns:a16="http://schemas.microsoft.com/office/drawing/2014/main" id="{5DD00911-CBFD-1B60-2FAE-B66CA6447519}"/>
              </a:ext>
            </a:extLst>
          </p:cNvPr>
          <p:cNvSpPr/>
          <p:nvPr/>
        </p:nvSpPr>
        <p:spPr>
          <a:xfrm>
            <a:off x="3831651" y="3619103"/>
            <a:ext cx="5392404" cy="264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lang="en-US" sz="110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TCP / IP Stack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161;p12">
            <a:extLst>
              <a:ext uri="{FF2B5EF4-FFF2-40B4-BE49-F238E27FC236}">
                <a16:creationId xmlns:a16="http://schemas.microsoft.com/office/drawing/2014/main" id="{AD7A1021-7D9A-D35E-A6D5-14E0BDBF8876}"/>
              </a:ext>
            </a:extLst>
          </p:cNvPr>
          <p:cNvSpPr/>
          <p:nvPr/>
        </p:nvSpPr>
        <p:spPr>
          <a:xfrm>
            <a:off x="3831651" y="3779794"/>
            <a:ext cx="5392404" cy="243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000" b="0" i="0" u="none" strike="noStrike" cap="none" dirty="0">
                <a:solidFill>
                  <a:srgbClr val="FFE5E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DM Sans"/>
              </a:rPr>
              <a:t>Encapsulates packet</a:t>
            </a:r>
            <a:endParaRPr sz="10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7" name="Google Shape;162;p12">
            <a:extLst>
              <a:ext uri="{FF2B5EF4-FFF2-40B4-BE49-F238E27FC236}">
                <a16:creationId xmlns:a16="http://schemas.microsoft.com/office/drawing/2014/main" id="{6D20AE27-04FE-1C82-62D0-AC42AF0C40B7}"/>
              </a:ext>
            </a:extLst>
          </p:cNvPr>
          <p:cNvSpPr/>
          <p:nvPr/>
        </p:nvSpPr>
        <p:spPr>
          <a:xfrm>
            <a:off x="631908" y="446206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lang="en-US" sz="1250" b="0" i="0" u="none" strike="noStrike" cap="non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05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164;p12">
            <a:extLst>
              <a:ext uri="{FF2B5EF4-FFF2-40B4-BE49-F238E27FC236}">
                <a16:creationId xmlns:a16="http://schemas.microsoft.com/office/drawing/2014/main" id="{DEDB1F3E-4BEF-A4A2-0D59-F5B80B8DEC42}"/>
              </a:ext>
            </a:extLst>
          </p:cNvPr>
          <p:cNvSpPr/>
          <p:nvPr/>
        </p:nvSpPr>
        <p:spPr>
          <a:xfrm>
            <a:off x="631908" y="4834731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lang="en-US" sz="110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Switch → Router → Firewall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165;p12">
            <a:extLst>
              <a:ext uri="{FF2B5EF4-FFF2-40B4-BE49-F238E27FC236}">
                <a16:creationId xmlns:a16="http://schemas.microsoft.com/office/drawing/2014/main" id="{FE0A9C94-D50E-2D65-7607-3F1E3EB93972}"/>
              </a:ext>
            </a:extLst>
          </p:cNvPr>
          <p:cNvSpPr/>
          <p:nvPr/>
        </p:nvSpPr>
        <p:spPr>
          <a:xfrm>
            <a:off x="621447" y="4984406"/>
            <a:ext cx="1672508" cy="195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000" b="0" i="0" u="none" strike="noStrike" cap="none" dirty="0">
                <a:solidFill>
                  <a:srgbClr val="FFE5E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DM Sans"/>
              </a:rPr>
              <a:t>Forwards or blocks</a:t>
            </a:r>
            <a:endParaRPr sz="10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45" name="Google Shape;166;p12">
            <a:extLst>
              <a:ext uri="{FF2B5EF4-FFF2-40B4-BE49-F238E27FC236}">
                <a16:creationId xmlns:a16="http://schemas.microsoft.com/office/drawing/2014/main" id="{70883059-12A1-DA84-E767-C0BA6240F56B}"/>
              </a:ext>
            </a:extLst>
          </p:cNvPr>
          <p:cNvSpPr/>
          <p:nvPr/>
        </p:nvSpPr>
        <p:spPr>
          <a:xfrm>
            <a:off x="3831651" y="446206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lang="en-US" sz="125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06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167;p12">
            <a:extLst>
              <a:ext uri="{FF2B5EF4-FFF2-40B4-BE49-F238E27FC236}">
                <a16:creationId xmlns:a16="http://schemas.microsoft.com/office/drawing/2014/main" id="{6C4A5324-4677-85FC-6934-50006815E7B0}"/>
              </a:ext>
            </a:extLst>
          </p:cNvPr>
          <p:cNvSpPr/>
          <p:nvPr/>
        </p:nvSpPr>
        <p:spPr>
          <a:xfrm rot="5400000">
            <a:off x="3464385" y="3361372"/>
            <a:ext cx="5392404" cy="19050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168;p12">
            <a:extLst>
              <a:ext uri="{FF2B5EF4-FFF2-40B4-BE49-F238E27FC236}">
                <a16:creationId xmlns:a16="http://schemas.microsoft.com/office/drawing/2014/main" id="{60F6344F-40E4-95A7-03C7-3E3982A38A1C}"/>
              </a:ext>
            </a:extLst>
          </p:cNvPr>
          <p:cNvSpPr/>
          <p:nvPr/>
        </p:nvSpPr>
        <p:spPr>
          <a:xfrm>
            <a:off x="3804795" y="4807531"/>
            <a:ext cx="5392404" cy="264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lang="en-US" sz="1100" b="0" i="0" u="none" strike="noStrike" cap="none" dirty="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SCADA Driver → Tag → HMI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169;p12">
            <a:extLst>
              <a:ext uri="{FF2B5EF4-FFF2-40B4-BE49-F238E27FC236}">
                <a16:creationId xmlns:a16="http://schemas.microsoft.com/office/drawing/2014/main" id="{99E123CE-8892-99D5-3A7B-C1B13996320E}"/>
              </a:ext>
            </a:extLst>
          </p:cNvPr>
          <p:cNvSpPr/>
          <p:nvPr/>
        </p:nvSpPr>
        <p:spPr>
          <a:xfrm>
            <a:off x="3831651" y="4951579"/>
            <a:ext cx="1484493" cy="188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000" b="0" i="0" u="none" strike="noStrike" cap="none" dirty="0">
                <a:solidFill>
                  <a:srgbClr val="FFE5E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DM Sans"/>
              </a:rPr>
              <a:t>Displays value</a:t>
            </a:r>
            <a:endParaRPr sz="10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53" name="Google Shape;170;p12">
            <a:extLst>
              <a:ext uri="{FF2B5EF4-FFF2-40B4-BE49-F238E27FC236}">
                <a16:creationId xmlns:a16="http://schemas.microsoft.com/office/drawing/2014/main" id="{B5F86BC8-E519-65CC-F2E8-08F255875BF1}"/>
              </a:ext>
            </a:extLst>
          </p:cNvPr>
          <p:cNvSpPr/>
          <p:nvPr/>
        </p:nvSpPr>
        <p:spPr>
          <a:xfrm>
            <a:off x="631908" y="5707818"/>
            <a:ext cx="10927878" cy="595610"/>
          </a:xfrm>
          <a:prstGeom prst="roundRect">
            <a:avLst>
              <a:gd name="adj" fmla="val 11339"/>
            </a:avLst>
          </a:prstGeom>
          <a:solidFill>
            <a:srgbClr val="740B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26000"/>
              </a:lnSpc>
              <a:buClr>
                <a:srgbClr val="FFFFFF"/>
              </a:buClr>
              <a:buSzPts val="1250"/>
            </a:pPr>
            <a:r>
              <a:rPr lang="en-US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One failure anywhere in this chain — and 78°C never reaches the operator.</a:t>
            </a: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147;p12">
            <a:extLst>
              <a:ext uri="{FF2B5EF4-FFF2-40B4-BE49-F238E27FC236}">
                <a16:creationId xmlns:a16="http://schemas.microsoft.com/office/drawing/2014/main" id="{CDE5AED5-30EC-A03F-D2A9-7C951A62637D}"/>
              </a:ext>
            </a:extLst>
          </p:cNvPr>
          <p:cNvSpPr/>
          <p:nvPr/>
        </p:nvSpPr>
        <p:spPr>
          <a:xfrm>
            <a:off x="631909" y="3446753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147;p12">
            <a:extLst>
              <a:ext uri="{FF2B5EF4-FFF2-40B4-BE49-F238E27FC236}">
                <a16:creationId xmlns:a16="http://schemas.microsoft.com/office/drawing/2014/main" id="{3BDAC33A-CCC7-D3DE-4F60-AD773DCEF47E}"/>
              </a:ext>
            </a:extLst>
          </p:cNvPr>
          <p:cNvSpPr/>
          <p:nvPr/>
        </p:nvSpPr>
        <p:spPr>
          <a:xfrm>
            <a:off x="3836650" y="2258167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147;p12">
            <a:extLst>
              <a:ext uri="{FF2B5EF4-FFF2-40B4-BE49-F238E27FC236}">
                <a16:creationId xmlns:a16="http://schemas.microsoft.com/office/drawing/2014/main" id="{F14C2A41-74A8-0C98-5F59-8601F80167C4}"/>
              </a:ext>
            </a:extLst>
          </p:cNvPr>
          <p:cNvSpPr/>
          <p:nvPr/>
        </p:nvSpPr>
        <p:spPr>
          <a:xfrm>
            <a:off x="3831651" y="3445559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147;p12">
            <a:extLst>
              <a:ext uri="{FF2B5EF4-FFF2-40B4-BE49-F238E27FC236}">
                <a16:creationId xmlns:a16="http://schemas.microsoft.com/office/drawing/2014/main" id="{3C67F26F-89D5-2BB7-7125-6A91269CB235}"/>
              </a:ext>
            </a:extLst>
          </p:cNvPr>
          <p:cNvSpPr/>
          <p:nvPr/>
        </p:nvSpPr>
        <p:spPr>
          <a:xfrm>
            <a:off x="643500" y="4702419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147;p12">
            <a:extLst>
              <a:ext uri="{FF2B5EF4-FFF2-40B4-BE49-F238E27FC236}">
                <a16:creationId xmlns:a16="http://schemas.microsoft.com/office/drawing/2014/main" id="{8C96B2E6-4CF5-9D02-AA72-AE0084AEBB19}"/>
              </a:ext>
            </a:extLst>
          </p:cNvPr>
          <p:cNvSpPr/>
          <p:nvPr/>
        </p:nvSpPr>
        <p:spPr>
          <a:xfrm>
            <a:off x="3831651" y="4701364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9">
          <a:extLst>
            <a:ext uri="{FF2B5EF4-FFF2-40B4-BE49-F238E27FC236}">
              <a16:creationId xmlns:a16="http://schemas.microsoft.com/office/drawing/2014/main" id="{1915D415-B16A-CCB8-62EF-5CC1B35D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>
            <a:extLst>
              <a:ext uri="{FF2B5EF4-FFF2-40B4-BE49-F238E27FC236}">
                <a16:creationId xmlns:a16="http://schemas.microsoft.com/office/drawing/2014/main" id="{A618BD8A-D74D-8F59-7F01-29FCF7A159CA}"/>
              </a:ext>
            </a:extLst>
          </p:cNvPr>
          <p:cNvSpPr/>
          <p:nvPr/>
        </p:nvSpPr>
        <p:spPr>
          <a:xfrm>
            <a:off x="3081776" y="2545060"/>
            <a:ext cx="6355993" cy="524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04000"/>
              </a:lnSpc>
              <a:buClr>
                <a:srgbClr val="FAEBEB"/>
              </a:buClr>
              <a:buSzPts val="4800"/>
            </a:pPr>
            <a:endParaRPr lang="en-US"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4">
            <a:extLst>
              <a:ext uri="{FF2B5EF4-FFF2-40B4-BE49-F238E27FC236}">
                <a16:creationId xmlns:a16="http://schemas.microsoft.com/office/drawing/2014/main" id="{BF121951-A56C-6129-22B6-6F3F0E87780C}"/>
              </a:ext>
            </a:extLst>
          </p:cNvPr>
          <p:cNvSpPr/>
          <p:nvPr/>
        </p:nvSpPr>
        <p:spPr>
          <a:xfrm>
            <a:off x="5203794" y="4050605"/>
            <a:ext cx="6355993" cy="2304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800"/>
              <a:buFont typeface="Dela Gothic One"/>
              <a:buNone/>
            </a:pP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>
            <a:extLst>
              <a:ext uri="{FF2B5EF4-FFF2-40B4-BE49-F238E27FC236}">
                <a16:creationId xmlns:a16="http://schemas.microsoft.com/office/drawing/2014/main" id="{E5DF52F4-2B36-A1AA-B3B5-F29CAC58556B}"/>
              </a:ext>
            </a:extLst>
          </p:cNvPr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>
            <a:extLst>
              <a:ext uri="{FF2B5EF4-FFF2-40B4-BE49-F238E27FC236}">
                <a16:creationId xmlns:a16="http://schemas.microsoft.com/office/drawing/2014/main" id="{5F7CDD97-F595-F6A7-7C11-44F168C18C70}"/>
              </a:ext>
            </a:extLst>
          </p:cNvPr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6B87C999-B4F4-1FB3-B965-02C766731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857F936-A7AD-A550-887E-A942445E4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" y="6200775"/>
            <a:ext cx="11201400" cy="314325"/>
          </a:xfrm>
          <a:prstGeom prst="rect">
            <a:avLst/>
          </a:prstGeom>
        </p:spPr>
      </p:pic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06FE8CE0-5495-6DD3-785D-B82A27DFD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647700"/>
            <a:ext cx="1752600" cy="285750"/>
          </a:xfrm>
          <a:prstGeom prst="rect">
            <a:avLst/>
          </a:prstGeom>
        </p:spPr>
      </p:pic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C5F5157-DEF1-230D-B726-B690A3230A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00" y="1285875"/>
            <a:ext cx="3632150" cy="2314575"/>
          </a:xfrm>
          <a:prstGeom prst="rect">
            <a:avLst/>
          </a:prstGeom>
        </p:spPr>
      </p:pic>
      <p:pic>
        <p:nvPicPr>
          <p:cNvPr id="11" name="Picture 10" descr="image.png">
            <a:extLst>
              <a:ext uri="{FF2B5EF4-FFF2-40B4-BE49-F238E27FC236}">
                <a16:creationId xmlns:a16="http://schemas.microsoft.com/office/drawing/2014/main" id="{64B88E6A-1EED-0CFE-9B8D-4569347DF8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850" y="1285875"/>
            <a:ext cx="3632150" cy="2314575"/>
          </a:xfrm>
          <a:prstGeom prst="rect">
            <a:avLst/>
          </a:prstGeom>
        </p:spPr>
      </p:pic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717B0D0E-30B5-5283-8640-3AF08AC028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400" y="1285875"/>
            <a:ext cx="3632299" cy="2314575"/>
          </a:xfrm>
          <a:prstGeom prst="rect">
            <a:avLst/>
          </a:prstGeom>
        </p:spPr>
      </p:pic>
      <p:pic>
        <p:nvPicPr>
          <p:cNvPr id="15" name="Picture 14" descr="image.png">
            <a:extLst>
              <a:ext uri="{FF2B5EF4-FFF2-40B4-BE49-F238E27FC236}">
                <a16:creationId xmlns:a16="http://schemas.microsoft.com/office/drawing/2014/main" id="{0A4E8E02-D6CB-1213-1039-CEC3D7F691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" y="3752850"/>
            <a:ext cx="3632150" cy="2314575"/>
          </a:xfrm>
          <a:prstGeom prst="rect">
            <a:avLst/>
          </a:prstGeom>
        </p:spPr>
      </p:pic>
      <p:pic>
        <p:nvPicPr>
          <p:cNvPr id="17" name="Picture 16" descr="image.png">
            <a:extLst>
              <a:ext uri="{FF2B5EF4-FFF2-40B4-BE49-F238E27FC236}">
                <a16:creationId xmlns:a16="http://schemas.microsoft.com/office/drawing/2014/main" id="{9B0FC04D-E2DB-A80C-E5E0-5DDFFAF707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850" y="3752850"/>
            <a:ext cx="3632150" cy="2314575"/>
          </a:xfrm>
          <a:prstGeom prst="rect">
            <a:avLst/>
          </a:prstGeom>
        </p:spPr>
      </p:pic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47CF5274-8983-E59C-ADBF-B7B2C568852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4400" y="3752850"/>
            <a:ext cx="3632299" cy="2314575"/>
          </a:xfrm>
          <a:prstGeom prst="rect">
            <a:avLst/>
          </a:prstGeom>
        </p:spPr>
      </p:pic>
      <p:pic>
        <p:nvPicPr>
          <p:cNvPr id="25" name="Picture 24" descr="image.png">
            <a:extLst>
              <a:ext uri="{FF2B5EF4-FFF2-40B4-BE49-F238E27FC236}">
                <a16:creationId xmlns:a16="http://schemas.microsoft.com/office/drawing/2014/main" id="{495AF699-9AC0-D188-EBCF-25FE865770F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25" y="1976437"/>
            <a:ext cx="1000125" cy="933450"/>
          </a:xfrm>
          <a:prstGeom prst="rect">
            <a:avLst/>
          </a:prstGeom>
        </p:spPr>
      </p:pic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6A3E1F5C-EA72-EE97-2EE7-F95498C0734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41775" y="1976437"/>
            <a:ext cx="1000125" cy="933450"/>
          </a:xfrm>
          <a:prstGeom prst="rect">
            <a:avLst/>
          </a:prstGeom>
        </p:spPr>
      </p:pic>
      <p:pic>
        <p:nvPicPr>
          <p:cNvPr id="29" name="Picture 28" descr="image.png">
            <a:extLst>
              <a:ext uri="{FF2B5EF4-FFF2-40B4-BE49-F238E27FC236}">
                <a16:creationId xmlns:a16="http://schemas.microsoft.com/office/drawing/2014/main" id="{60E5FCEA-7F3B-3F52-E901-F9D251725D7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6325" y="1976437"/>
            <a:ext cx="1000125" cy="933450"/>
          </a:xfrm>
          <a:prstGeom prst="rect">
            <a:avLst/>
          </a:prstGeom>
        </p:spPr>
      </p:pic>
      <p:pic>
        <p:nvPicPr>
          <p:cNvPr id="31" name="Picture 30" descr="image.png">
            <a:extLst>
              <a:ext uri="{FF2B5EF4-FFF2-40B4-BE49-F238E27FC236}">
                <a16:creationId xmlns:a16="http://schemas.microsoft.com/office/drawing/2014/main" id="{D7E9783A-8AF0-9740-F3A6-E0591CC3366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25" y="4443412"/>
            <a:ext cx="1000125" cy="933450"/>
          </a:xfrm>
          <a:prstGeom prst="rect">
            <a:avLst/>
          </a:prstGeom>
        </p:spPr>
      </p:pic>
      <p:pic>
        <p:nvPicPr>
          <p:cNvPr id="33" name="Picture 32" descr="image.png">
            <a:extLst>
              <a:ext uri="{FF2B5EF4-FFF2-40B4-BE49-F238E27FC236}">
                <a16:creationId xmlns:a16="http://schemas.microsoft.com/office/drawing/2014/main" id="{8818DA23-23D4-36E5-28C4-71C12F4AD8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41775" y="4443412"/>
            <a:ext cx="1000125" cy="93345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A61D32C8-414D-4C62-0A91-62FCF83AEEF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6325" y="4443412"/>
            <a:ext cx="1000125" cy="93345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11A745E-975A-DBA2-870D-F086AC4086A1}"/>
              </a:ext>
            </a:extLst>
          </p:cNvPr>
          <p:cNvSpPr txBox="1"/>
          <p:nvPr/>
        </p:nvSpPr>
        <p:spPr>
          <a:xfrm>
            <a:off x="676275" y="6286500"/>
            <a:ext cx="6048375" cy="132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2" b="0" i="0" u="none" dirty="0">
                <a:solidFill>
                  <a:srgbClr val="E2E8F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SCADA Rule:</a:t>
            </a:r>
            <a:r>
              <a:rPr sz="862" b="0" i="0" u="none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Topologies dictate latency, fault isolation, and packet loss impact between PLC register &amp; HMI screen.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C285F13-A9EC-442C-A6D7-45263CC4575C}"/>
              </a:ext>
            </a:extLst>
          </p:cNvPr>
          <p:cNvSpPr txBox="1"/>
          <p:nvPr/>
        </p:nvSpPr>
        <p:spPr>
          <a:xfrm>
            <a:off x="495300" y="403246"/>
            <a:ext cx="4171950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38BDF8"/>
                </a:solidFill>
                <a:latin typeface="Dela Gothic One" panose="020B0604020202020204" charset="-128"/>
                <a:ea typeface="Dela Gothic One" panose="020B0604020202020204" charset="-128"/>
              </a:rPr>
              <a:t>INDUSTRIAL INFRASTRUCTURE &amp; FIELD ARCHITECTURES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CC7EAC-A340-B515-C062-79E6B20B4BC3}"/>
              </a:ext>
            </a:extLst>
          </p:cNvPr>
          <p:cNvSpPr txBox="1"/>
          <p:nvPr/>
        </p:nvSpPr>
        <p:spPr>
          <a:xfrm>
            <a:off x="495300" y="571500"/>
            <a:ext cx="5380844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 dirty="0">
                <a:solidFill>
                  <a:srgbClr val="FFFFFF"/>
                </a:solidFill>
                <a:latin typeface="Dela Gothic One" panose="020B0604020202020204" charset="-128"/>
                <a:ea typeface="Dela Gothic One" panose="020B0604020202020204" charset="-128"/>
              </a:rPr>
              <a:t>Network Topologies in SCADA</a:t>
            </a:r>
          </a:p>
        </p:txBody>
      </p:sp>
      <p:pic>
        <p:nvPicPr>
          <p:cNvPr id="43" name="Picture 42" descr="image.png">
            <a:extLst>
              <a:ext uri="{FF2B5EF4-FFF2-40B4-BE49-F238E27FC236}">
                <a16:creationId xmlns:a16="http://schemas.microsoft.com/office/drawing/2014/main" id="{753DD076-A754-1F7F-6D88-7D99984F5F3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86975" y="733425"/>
            <a:ext cx="142875" cy="114300"/>
          </a:xfrm>
          <a:prstGeom prst="rect">
            <a:avLst/>
          </a:prstGeom>
        </p:spPr>
      </p:pic>
      <p:sp>
        <p:nvSpPr>
          <p:cNvPr id="45" name="Rounded Rectangle 22">
            <a:extLst>
              <a:ext uri="{FF2B5EF4-FFF2-40B4-BE49-F238E27FC236}">
                <a16:creationId xmlns:a16="http://schemas.microsoft.com/office/drawing/2014/main" id="{0219072D-D2DF-F9FE-1A9D-6B074C36059E}"/>
              </a:ext>
            </a:extLst>
          </p:cNvPr>
          <p:cNvSpPr/>
          <p:nvPr/>
        </p:nvSpPr>
        <p:spPr>
          <a:xfrm>
            <a:off x="495300" y="533400"/>
            <a:ext cx="66675" cy="66675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>
            <a:extLst>
              <a:ext uri="{FF2B5EF4-FFF2-40B4-BE49-F238E27FC236}">
                <a16:creationId xmlns:a16="http://schemas.microsoft.com/office/drawing/2014/main" id="{866CC10D-96EA-15B3-E421-77255873370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3900" y="2043112"/>
            <a:ext cx="866775" cy="80010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45BD398B-7A8B-C524-80F2-4665B9F16475}"/>
              </a:ext>
            </a:extLst>
          </p:cNvPr>
          <p:cNvSpPr txBox="1"/>
          <p:nvPr/>
        </p:nvSpPr>
        <p:spPr>
          <a:xfrm>
            <a:off x="1790700" y="2331690"/>
            <a:ext cx="2174825" cy="488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Dedicated point-to-point connections from a central managed switch to PLCs, HMIs, and drives.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42028B-7D68-FA40-5E5C-A6DF167ED6D9}"/>
              </a:ext>
            </a:extLst>
          </p:cNvPr>
          <p:cNvSpPr txBox="1"/>
          <p:nvPr/>
        </p:nvSpPr>
        <p:spPr>
          <a:xfrm>
            <a:off x="2705100" y="2867244"/>
            <a:ext cx="1260425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Fault isolated</a:t>
            </a:r>
            <a:r>
              <a:rPr sz="825" b="0" i="0" u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Switch is SPOF</a:t>
            </a:r>
          </a:p>
        </p:txBody>
      </p:sp>
      <p:pic>
        <p:nvPicPr>
          <p:cNvPr id="53" name="Picture 52" descr="image.png">
            <a:extLst>
              <a:ext uri="{FF2B5EF4-FFF2-40B4-BE49-F238E27FC236}">
                <a16:creationId xmlns:a16="http://schemas.microsoft.com/office/drawing/2014/main" id="{1DB983DF-56C8-FDE8-1A9F-1C2D0A5E4AE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08450" y="2043112"/>
            <a:ext cx="866775" cy="8001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E592503-33AF-FDEB-7B9E-87C4B1B1E83D}"/>
              </a:ext>
            </a:extLst>
          </p:cNvPr>
          <p:cNvSpPr txBox="1"/>
          <p:nvPr/>
        </p:nvSpPr>
        <p:spPr>
          <a:xfrm>
            <a:off x="5575250" y="2331690"/>
            <a:ext cx="2174825" cy="488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Devices connected in a closed circular loop. One break activates backup path in &lt;10ms recovery.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39D50E-B1D7-DF27-B0F2-CECD6C2FCE35}"/>
              </a:ext>
            </a:extLst>
          </p:cNvPr>
          <p:cNvSpPr txBox="1"/>
          <p:nvPr/>
        </p:nvSpPr>
        <p:spPr>
          <a:xfrm>
            <a:off x="6661100" y="2803765"/>
            <a:ext cx="1088975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High redundancy</a:t>
            </a:r>
            <a:r>
              <a:rPr sz="825" b="0" i="0" u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Protocol setup</a:t>
            </a:r>
          </a:p>
        </p:txBody>
      </p:sp>
      <p:pic>
        <p:nvPicPr>
          <p:cNvPr id="59" name="Picture 58" descr="image.png">
            <a:extLst>
              <a:ext uri="{FF2B5EF4-FFF2-40B4-BE49-F238E27FC236}">
                <a16:creationId xmlns:a16="http://schemas.microsoft.com/office/drawing/2014/main" id="{0FC17A7A-60B5-9488-2E75-A21FEB45DEB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93000" y="2043112"/>
            <a:ext cx="866775" cy="800100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16A4C754-533F-F8CD-BFE9-E81AD3C4ED8A}"/>
              </a:ext>
            </a:extLst>
          </p:cNvPr>
          <p:cNvSpPr txBox="1"/>
          <p:nvPr/>
        </p:nvSpPr>
        <p:spPr>
          <a:xfrm>
            <a:off x="9359800" y="2174527"/>
            <a:ext cx="2174974" cy="488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backbone cable with terminating resistors and tap drops for multi-drop serial devices.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7972A9-8923-3378-13A1-B777F0D8AF1A}"/>
              </a:ext>
            </a:extLst>
          </p:cNvPr>
          <p:cNvSpPr txBox="1"/>
          <p:nvPr/>
        </p:nvSpPr>
        <p:spPr>
          <a:xfrm>
            <a:off x="10460087" y="2708515"/>
            <a:ext cx="1074687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Lowest cable cost</a:t>
            </a:r>
            <a:r>
              <a:rPr sz="825" b="0" i="0" u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Trunk break halts bus</a:t>
            </a:r>
          </a:p>
        </p:txBody>
      </p:sp>
      <p:pic>
        <p:nvPicPr>
          <p:cNvPr id="65" name="Picture 64" descr="image.png">
            <a:extLst>
              <a:ext uri="{FF2B5EF4-FFF2-40B4-BE49-F238E27FC236}">
                <a16:creationId xmlns:a16="http://schemas.microsoft.com/office/drawing/2014/main" id="{EB7BACA0-E7BF-C15E-6E4C-78B34BAEB20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900" y="4510087"/>
            <a:ext cx="866775" cy="800100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7F4A98B7-76D5-1237-D8D3-AC65DE09F4EA}"/>
              </a:ext>
            </a:extLst>
          </p:cNvPr>
          <p:cNvSpPr txBox="1"/>
          <p:nvPr/>
        </p:nvSpPr>
        <p:spPr>
          <a:xfrm>
            <a:off x="1790700" y="4736752"/>
            <a:ext cx="2174825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 or partial point-to-multipoint links providing dynamic self-healing data rerouting.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5B54F3-6D2E-C9A6-2246-24DB468E9CCC}"/>
              </a:ext>
            </a:extLst>
          </p:cNvPr>
          <p:cNvSpPr txBox="1"/>
          <p:nvPr/>
        </p:nvSpPr>
        <p:spPr>
          <a:xfrm>
            <a:off x="2749153" y="5270740"/>
            <a:ext cx="1216372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Zero downtime</a:t>
            </a:r>
            <a:r>
              <a:rPr sz="825" b="0" i="0" u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High wiring complexity</a:t>
            </a:r>
          </a:p>
        </p:txBody>
      </p:sp>
      <p:pic>
        <p:nvPicPr>
          <p:cNvPr id="71" name="Picture 70" descr="image.png">
            <a:extLst>
              <a:ext uri="{FF2B5EF4-FFF2-40B4-BE49-F238E27FC236}">
                <a16:creationId xmlns:a16="http://schemas.microsoft.com/office/drawing/2014/main" id="{569EF822-43A1-071C-32D5-533D9A3E3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8450" y="4510087"/>
            <a:ext cx="866775" cy="800100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80D97CBB-3B81-C9B3-E2C2-BB5F3C170EA0}"/>
              </a:ext>
            </a:extLst>
          </p:cNvPr>
          <p:cNvSpPr txBox="1"/>
          <p:nvPr/>
        </p:nvSpPr>
        <p:spPr>
          <a:xfrm>
            <a:off x="5575250" y="4736752"/>
            <a:ext cx="2174825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Tiered hierarchical star dividing plant control into core, distribution, and local cell layers.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6268FD-460C-85BC-1501-44352182A628}"/>
              </a:ext>
            </a:extLst>
          </p:cNvPr>
          <p:cNvSpPr txBox="1"/>
          <p:nvPr/>
        </p:nvSpPr>
        <p:spPr>
          <a:xfrm>
            <a:off x="6738491" y="5270740"/>
            <a:ext cx="1011584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Modular expansion</a:t>
            </a:r>
            <a:r>
              <a:rPr sz="825" b="0" i="0" u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Root dependency</a:t>
            </a:r>
          </a:p>
        </p:txBody>
      </p:sp>
      <p:pic>
        <p:nvPicPr>
          <p:cNvPr id="77" name="Picture 76" descr="image.png">
            <a:extLst>
              <a:ext uri="{FF2B5EF4-FFF2-40B4-BE49-F238E27FC236}">
                <a16:creationId xmlns:a16="http://schemas.microsoft.com/office/drawing/2014/main" id="{A9348676-C241-4A75-24D5-3AF30FB64AB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93000" y="4510087"/>
            <a:ext cx="866775" cy="800100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F52D792B-5378-0F7A-9A03-8CA1E6304681}"/>
              </a:ext>
            </a:extLst>
          </p:cNvPr>
          <p:cNvSpPr txBox="1"/>
          <p:nvPr/>
        </p:nvSpPr>
        <p:spPr>
          <a:xfrm>
            <a:off x="9359800" y="4736752"/>
            <a:ext cx="2174974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Combines resilient Ring backbones with localized Star clusters and serial Bus gateways.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1EA3E21-5E8C-4C8D-742A-6F053FD480B4}"/>
              </a:ext>
            </a:extLst>
          </p:cNvPr>
          <p:cNvSpPr txBox="1"/>
          <p:nvPr/>
        </p:nvSpPr>
        <p:spPr>
          <a:xfrm>
            <a:off x="10448925" y="5270740"/>
            <a:ext cx="108585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Optimized balance</a:t>
            </a:r>
            <a:r>
              <a:rPr sz="825" b="0" i="0" u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25" b="0" i="0" u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Complex diagnostics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3DFDF89-56C3-B6D5-BBBA-33D54A3146F1}"/>
              </a:ext>
            </a:extLst>
          </p:cNvPr>
          <p:cNvSpPr txBox="1"/>
          <p:nvPr/>
        </p:nvSpPr>
        <p:spPr>
          <a:xfrm>
            <a:off x="1790700" y="2001232"/>
            <a:ext cx="997594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 dirty="0">
                <a:solidFill>
                  <a:srgbClr val="F1F5F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Topology</a:t>
            </a:r>
          </a:p>
        </p:txBody>
      </p:sp>
      <p:pic>
        <p:nvPicPr>
          <p:cNvPr id="85" name="Picture 84" descr="image.png">
            <a:extLst>
              <a:ext uri="{FF2B5EF4-FFF2-40B4-BE49-F238E27FC236}">
                <a16:creationId xmlns:a16="http://schemas.microsoft.com/office/drawing/2014/main" id="{19AAF6AF-A56E-B752-983B-4C0FD0A549A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788294" y="1941165"/>
            <a:ext cx="1177230" cy="285750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C4F0CAF7-E655-0AD3-ACF4-AFAEF9C3F769}"/>
              </a:ext>
            </a:extLst>
          </p:cNvPr>
          <p:cNvSpPr txBox="1"/>
          <p:nvPr/>
        </p:nvSpPr>
        <p:spPr>
          <a:xfrm>
            <a:off x="5575250" y="2001232"/>
            <a:ext cx="103495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 dirty="0">
                <a:solidFill>
                  <a:srgbClr val="F1F5F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Ring Topology</a:t>
            </a:r>
          </a:p>
        </p:txBody>
      </p:sp>
      <p:pic>
        <p:nvPicPr>
          <p:cNvPr id="89" name="Picture 88" descr="image.png">
            <a:extLst>
              <a:ext uri="{FF2B5EF4-FFF2-40B4-BE49-F238E27FC236}">
                <a16:creationId xmlns:a16="http://schemas.microsoft.com/office/drawing/2014/main" id="{CC8823DA-F260-4CB9-8298-C7866374C5A9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10201" y="1941165"/>
            <a:ext cx="1139874" cy="285750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4BBB2DB6-1494-EF2F-3EDD-04E20D3EADF5}"/>
              </a:ext>
            </a:extLst>
          </p:cNvPr>
          <p:cNvSpPr txBox="1"/>
          <p:nvPr/>
        </p:nvSpPr>
        <p:spPr>
          <a:xfrm>
            <a:off x="9359800" y="1934556"/>
            <a:ext cx="981075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 dirty="0">
                <a:solidFill>
                  <a:srgbClr val="F1F5F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 Topology</a:t>
            </a:r>
          </a:p>
        </p:txBody>
      </p:sp>
      <p:pic>
        <p:nvPicPr>
          <p:cNvPr id="93" name="Picture 92" descr="image.png">
            <a:extLst>
              <a:ext uri="{FF2B5EF4-FFF2-40B4-BE49-F238E27FC236}">
                <a16:creationId xmlns:a16="http://schemas.microsoft.com/office/drawing/2014/main" id="{ACACB122-A810-BFF7-2B88-A2210F44326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563225" y="1974502"/>
            <a:ext cx="971550" cy="161925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43A54F1F-BEB4-FB2D-F789-CF3D9BFDCC90}"/>
              </a:ext>
            </a:extLst>
          </p:cNvPr>
          <p:cNvSpPr txBox="1"/>
          <p:nvPr/>
        </p:nvSpPr>
        <p:spPr>
          <a:xfrm>
            <a:off x="1790700" y="4406294"/>
            <a:ext cx="987623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 dirty="0">
                <a:solidFill>
                  <a:srgbClr val="F1F5F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Mesh Topology</a:t>
            </a:r>
          </a:p>
        </p:txBody>
      </p:sp>
      <p:pic>
        <p:nvPicPr>
          <p:cNvPr id="97" name="Picture 96" descr="image.png">
            <a:extLst>
              <a:ext uri="{FF2B5EF4-FFF2-40B4-BE49-F238E27FC236}">
                <a16:creationId xmlns:a16="http://schemas.microsoft.com/office/drawing/2014/main" id="{7BA445DC-6B2B-EC6F-D5C2-90BFA73531E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778323" y="4346227"/>
            <a:ext cx="1187201" cy="28575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095ACB4F-B447-0DED-0E52-170E6056F7CE}"/>
              </a:ext>
            </a:extLst>
          </p:cNvPr>
          <p:cNvSpPr txBox="1"/>
          <p:nvPr/>
        </p:nvSpPr>
        <p:spPr>
          <a:xfrm>
            <a:off x="5575250" y="4313961"/>
            <a:ext cx="88775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 dirty="0">
                <a:solidFill>
                  <a:srgbClr val="F1F5F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 Topology</a:t>
            </a:r>
          </a:p>
        </p:txBody>
      </p:sp>
      <p:pic>
        <p:nvPicPr>
          <p:cNvPr id="101" name="Picture 100" descr="image.png">
            <a:extLst>
              <a:ext uri="{FF2B5EF4-FFF2-40B4-BE49-F238E27FC236}">
                <a16:creationId xmlns:a16="http://schemas.microsoft.com/office/drawing/2014/main" id="{38F9AB32-1069-279F-3C3B-9E060D99313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63010" y="4346227"/>
            <a:ext cx="1287065" cy="285750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1BA2969E-CB5F-7A7B-8016-E1C10C049B21}"/>
              </a:ext>
            </a:extLst>
          </p:cNvPr>
          <p:cNvSpPr txBox="1"/>
          <p:nvPr/>
        </p:nvSpPr>
        <p:spPr>
          <a:xfrm>
            <a:off x="9359800" y="4313961"/>
            <a:ext cx="99164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 dirty="0">
                <a:solidFill>
                  <a:srgbClr val="F1F5F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Hybrid Topology</a:t>
            </a:r>
          </a:p>
        </p:txBody>
      </p:sp>
      <p:pic>
        <p:nvPicPr>
          <p:cNvPr id="105" name="Picture 104" descr="image.png">
            <a:extLst>
              <a:ext uri="{FF2B5EF4-FFF2-40B4-BE49-F238E27FC236}">
                <a16:creationId xmlns:a16="http://schemas.microsoft.com/office/drawing/2014/main" id="{C56C049B-10FC-1EEE-F897-4913544C7DF8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351442" y="4346227"/>
            <a:ext cx="1183332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953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1908" y="644227"/>
            <a:ext cx="1499654" cy="205680"/>
          </a:xfrm>
          <a:prstGeom prst="roundRect">
            <a:avLst>
              <a:gd name="adj" fmla="val 22121"/>
            </a:avLst>
          </a:prstGeom>
          <a:solidFill>
            <a:srgbClr val="46070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13067" y="684808"/>
            <a:ext cx="1946921" cy="124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STEP 4 — ENCAPSULATION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31908" y="890488"/>
            <a:ext cx="10927878" cy="445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78°C Doesn't Travel Alone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31908" y="1488281"/>
            <a:ext cx="10927878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tag on a P&amp;ID is more than a number — it is a </a:t>
            </a:r>
            <a:r>
              <a:rPr lang="en-US" sz="105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complete data journey</a:t>
            </a:r>
            <a:r>
              <a:rPr lang="en-US" sz="10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from a physical process element all the way to the operator's screen. Encapsulation is the step that binds measurement, transmission, and display into one trusted signal.</a:t>
            </a:r>
            <a:endParaRPr lang="en-US" sz="10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699" y="2113558"/>
            <a:ext cx="3214210" cy="321429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439" y="2095897"/>
            <a:ext cx="677052" cy="8124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82989" y="2231231"/>
            <a:ext cx="5083048" cy="222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Physical Process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482989" y="2555478"/>
            <a:ext cx="5083048" cy="189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Sensor measures temperature, pressure, or flow at the field device</a:t>
            </a:r>
            <a:endParaRPr lang="en-US" sz="10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439" y="2908300"/>
            <a:ext cx="677052" cy="81240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82989" y="3043634"/>
            <a:ext cx="5083048" cy="222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Signal Transmission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6482989" y="3367881"/>
            <a:ext cx="5083048" cy="189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4–20 mA or digital signal travels through the I/O network</a:t>
            </a:r>
            <a:endParaRPr lang="en-US" sz="10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439" y="3720703"/>
            <a:ext cx="677052" cy="81240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482989" y="3856038"/>
            <a:ext cx="5083048" cy="222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Encapsulation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6482989" y="4180284"/>
            <a:ext cx="5083048" cy="189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Tag metadata, units, alarms, and scaling are bound to the raw value</a:t>
            </a:r>
            <a:endParaRPr lang="en-US" sz="10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4439" y="4533106"/>
            <a:ext cx="677052" cy="81240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482989" y="4668441"/>
            <a:ext cx="5083048" cy="222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Operator Screen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6482989" y="4992687"/>
            <a:ext cx="5083048" cy="189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Engineered value displayed with full context on the HMI/SCADA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31908" y="5573911"/>
            <a:ext cx="10927878" cy="639763"/>
          </a:xfrm>
          <a:prstGeom prst="roundRect">
            <a:avLst>
              <a:gd name="adj" fmla="val 8890"/>
            </a:avLst>
          </a:prstGeom>
          <a:solidFill>
            <a:srgbClr val="740B0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7239" y="5717778"/>
            <a:ext cx="169263" cy="13533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71833" y="5709245"/>
            <a:ext cx="10352622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Key Insight:</a:t>
            </a:r>
            <a:r>
              <a:rPr lang="en-US" sz="10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Without encapsulation, a raw signal is just a number. Encapsulation gives it meaning, units, alarm limits, and traceability — turning data into actionable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1908" y="737195"/>
            <a:ext cx="5267789" cy="158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Diagnostic Workflow: Ping Succeeds, TCP Fails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31908" y="2467173"/>
            <a:ext cx="5267789" cy="729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 the </a:t>
            </a:r>
            <a:r>
              <a:rPr lang="en-US" sz="125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most common scenario</a:t>
            </a: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 SCADA troubleshooting: the network path is clear, but the application layer is blocked. Don't stop at ping.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31908" y="3339902"/>
            <a:ext cx="5267789" cy="264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What each result tells you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31908" y="3747591"/>
            <a:ext cx="5267789" cy="1072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54000" indent="-254000" algn="l">
              <a:lnSpc>
                <a:spcPct val="126000"/>
              </a:lnSpc>
              <a:buSzPct val="100000"/>
              <a:buChar char="•"/>
            </a:pPr>
            <a:r>
              <a:rPr lang="en-US" sz="125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Ping succeeds</a:t>
            </a: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Layer 3 (IP routing) is fully functional</a:t>
            </a:r>
            <a:endParaRPr lang="en-US" sz="1250" dirty="0"/>
          </a:p>
          <a:p>
            <a:pPr marL="254000" indent="-254000" algn="l">
              <a:lnSpc>
                <a:spcPct val="126000"/>
              </a:lnSpc>
              <a:buSzPct val="100000"/>
              <a:buChar char="•"/>
            </a:pPr>
            <a:r>
              <a:rPr lang="en-US" sz="125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TCP connection refused</a:t>
            </a: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No service is listening on that port</a:t>
            </a:r>
            <a:endParaRPr lang="en-US" sz="1250" dirty="0"/>
          </a:p>
          <a:p>
            <a:pPr marL="254000" indent="-254000" algn="l">
              <a:lnSpc>
                <a:spcPct val="126000"/>
              </a:lnSpc>
              <a:buSzPct val="100000"/>
              <a:buChar char="•"/>
            </a:pPr>
            <a:r>
              <a:rPr lang="en-US" sz="125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TCP connection times out</a:t>
            </a: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Firewall is silently dropping the SYN packet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1908" y="4963716"/>
            <a:ext cx="5267789" cy="264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Next Steps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31908" y="5371405"/>
            <a:ext cx="5267789" cy="842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254000" indent="-254000" algn="l">
              <a:lnSpc>
                <a:spcPct val="126000"/>
              </a:lnSpc>
              <a:buSzPct val="100000"/>
              <a:buChar char="•"/>
            </a:pP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Check firewall ACLs — is port 502 (or 4840) explicitly permitted?</a:t>
            </a:r>
            <a:endParaRPr lang="en-US" sz="1250" dirty="0"/>
          </a:p>
          <a:p>
            <a:pPr marL="254000" indent="-254000" algn="l">
              <a:lnSpc>
                <a:spcPct val="126000"/>
              </a:lnSpc>
              <a:buSzPct val="100000"/>
              <a:buChar char="•"/>
            </a:pP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Verify the service is running on the PLC or server</a:t>
            </a:r>
            <a:endParaRPr lang="en-US" sz="1250" dirty="0"/>
          </a:p>
          <a:p>
            <a:pPr marL="254000" indent="-254000" algn="l">
              <a:lnSpc>
                <a:spcPct val="126000"/>
              </a:lnSpc>
              <a:buSzPct val="100000"/>
              <a:buChar char="•"/>
            </a:pP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</a:t>
            </a:r>
            <a:r>
              <a:rPr lang="en-US" sz="1250" dirty="0">
                <a:solidFill>
                  <a:srgbClr val="FFE5E5"/>
                </a:solidFill>
                <a:highlight>
                  <a:srgbClr val="17171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telnet &lt;ip&gt; &lt;port&gt;</a:t>
            </a: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or </a:t>
            </a:r>
            <a:r>
              <a:rPr lang="en-US" sz="1250" dirty="0">
                <a:solidFill>
                  <a:srgbClr val="FFE5E5"/>
                </a:solidFill>
                <a:highlight>
                  <a:srgbClr val="17171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nc -zv</a:t>
            </a:r>
            <a:r>
              <a:rPr lang="en-US" sz="125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to test port reachability directly</a:t>
            </a:r>
            <a:endParaRPr lang="en-US" sz="12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348" y="795040"/>
            <a:ext cx="5267789" cy="5267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1908" y="627955"/>
            <a:ext cx="10927878" cy="1187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VLANs: Logical Segmentation on Shared Infrastructure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31908" y="2267049"/>
            <a:ext cx="5243679" cy="296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Typical SCADA VLAN Layout</a:t>
            </a:r>
            <a:endParaRPr lang="en-US" sz="1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631908" y="2767013"/>
          <a:ext cx="5243679" cy="3247150"/>
        </p:xfrm>
        <a:graphic>
          <a:graphicData uri="http://schemas.openxmlformats.org/drawingml/2006/table">
            <a:tbl>
              <a:tblPr/>
              <a:tblGrid>
                <a:gridCol w="1747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7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12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VLAN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Segment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Typical Hosts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3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VLAN 10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Control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PLCs, RTUs, sensors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3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VLAN 20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HMI / SCADA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Operator workstations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91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VLAN 30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Servers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E5E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Historian, application servers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80548" marR="180548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31908" y="3277011"/>
            <a:ext cx="5243679" cy="1128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631908" y="4090386"/>
            <a:ext cx="5243679" cy="1128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631908" y="4903761"/>
            <a:ext cx="5243679" cy="1128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322457" y="2267049"/>
            <a:ext cx="5243679" cy="593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The Silent Killer: VLAN Misconfiguration</a:t>
            </a:r>
            <a:endParaRPr lang="en-US" sz="1850" dirty="0"/>
          </a:p>
        </p:txBody>
      </p:sp>
      <p:sp>
        <p:nvSpPr>
          <p:cNvPr id="4" name="Text 6"/>
          <p:cNvSpPr/>
          <p:nvPr/>
        </p:nvSpPr>
        <p:spPr>
          <a:xfrm>
            <a:off x="6322457" y="3041253"/>
            <a:ext cx="5243679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device can be </a:t>
            </a:r>
            <a:r>
              <a:rPr lang="en-US" sz="14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physically connected and show a link light</a:t>
            </a:r>
            <a:r>
              <a:rPr lang="en-US" sz="14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while being logically isolated on the wrong VLAN — unable to reach any of its intended services.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22457" y="4070449"/>
            <a:ext cx="5243679" cy="1859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Segmentation creates security boundaries; routing and firewalls decide what may cross them</a:t>
            </a:r>
            <a:endParaRPr lang="en-US" sz="1400" dirty="0"/>
          </a:p>
          <a:p>
            <a:pPr marL="284480" indent="-28448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Always verify switch port VLAN membership when a device "appears connected but can't reach anything"</a:t>
            </a:r>
            <a:endParaRPr lang="en-US" sz="1400" dirty="0"/>
          </a:p>
          <a:p>
            <a:pPr marL="284480" indent="-28448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Inter-VLAN traffic requires an explicit routing policy — never assume it flows freely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08" y="1648520"/>
            <a:ext cx="3560773" cy="356086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05024" y="705842"/>
            <a:ext cx="6961013" cy="10949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Wireshark: Making Invisible Packets Visible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4605024" y="1954213"/>
            <a:ext cx="6961013" cy="511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Wireshark reveals what the network </a:t>
            </a:r>
            <a:r>
              <a:rPr lang="en-US" sz="1300" i="1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actually</a:t>
            </a: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sees — not what you believe it should see. It is the ground truth tool for SCADA network diagnostics.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605024" y="2619375"/>
            <a:ext cx="6961013" cy="273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Inspect Each Layer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605024" y="3046413"/>
            <a:ext cx="6961013" cy="1440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Ethernet</a:t>
            </a: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Source and destination MAC addresses; confirm ARP resolution</a:t>
            </a:r>
            <a:endParaRPr lang="en-US" sz="1300" dirty="0"/>
          </a:p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IP</a:t>
            </a: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Verify correct source/destination IPs; catch routing errors</a:t>
            </a:r>
            <a:endParaRPr lang="en-US" sz="1300" dirty="0"/>
          </a:p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TCP/UDP</a:t>
            </a: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Confirm expected ports; spot retransmissions and resets</a:t>
            </a:r>
            <a:endParaRPr lang="en-US" sz="1300" dirty="0"/>
          </a:p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Application</a:t>
            </a: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Validate Modbus function codes, OPC UA handshakes, protocol responses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605024" y="4640263"/>
            <a:ext cx="6961013" cy="273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What to Look For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605024" y="5067300"/>
            <a:ext cx="6961013" cy="11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TCP RST packets — connection actively refused</a:t>
            </a:r>
            <a:endParaRPr lang="en-US" sz="1300" dirty="0"/>
          </a:p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 with no SYN-ACK — firewall silently dropping</a:t>
            </a:r>
            <a:endParaRPr lang="en-US" sz="1300" dirty="0"/>
          </a:p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Excessive retransmissions — packet loss or congestion</a:t>
            </a:r>
            <a:endParaRPr lang="en-US" sz="1300" dirty="0"/>
          </a:p>
          <a:p>
            <a:pPr marL="264160" indent="-264160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Malformed protocol frames — misconfigured driver or firmware bug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1908" y="546100"/>
            <a:ext cx="10927878" cy="9465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AEBE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Redundancy: Start with the Failure You Want to Survive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31908" y="1721941"/>
            <a:ext cx="11537463" cy="206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Don't memorize protocols before defining your failure scenario. </a:t>
            </a:r>
            <a:r>
              <a:rPr lang="en-US" sz="11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The threat model drives the redundancy choice.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908" y="2057598"/>
            <a:ext cx="5406592" cy="1653877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27307" y="2181324"/>
            <a:ext cx="215795" cy="21580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4822" y="2622848"/>
            <a:ext cx="5080766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RSTP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794822" y="2928243"/>
            <a:ext cx="5080766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Spanning Tree Protocol</a:t>
            </a:r>
            <a:r>
              <a:rPr lang="en-US" sz="11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recovers from a single link failure in seconds. Simple, widely supported. Best for non-critical segments with relaxed RTO requirements.</a:t>
            </a:r>
            <a:endParaRPr lang="en-US" sz="11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3095" y="2057598"/>
            <a:ext cx="5406691" cy="1653877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48494" y="2181324"/>
            <a:ext cx="215795" cy="21580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316008" y="2622848"/>
            <a:ext cx="5080865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MRP</a:t>
            </a:r>
            <a:endParaRPr lang="en-US" sz="1450" dirty="0"/>
          </a:p>
        </p:txBody>
      </p:sp>
      <p:sp>
        <p:nvSpPr>
          <p:cNvPr id="11" name="Text 5"/>
          <p:cNvSpPr/>
          <p:nvPr/>
        </p:nvSpPr>
        <p:spPr>
          <a:xfrm>
            <a:off x="6316008" y="2928243"/>
            <a:ext cx="5080865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Media Redundancy Protocol</a:t>
            </a:r>
            <a:r>
              <a:rPr lang="en-US" sz="11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ring topology recovery under 200ms. Common in industrial Ethernet environments with managed switches.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908" y="3826073"/>
            <a:ext cx="5406592" cy="1653877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27307" y="3949799"/>
            <a:ext cx="215795" cy="215801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94822" y="4391323"/>
            <a:ext cx="5080766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PRP</a:t>
            </a:r>
            <a:endParaRPr lang="en-US" sz="1450" dirty="0"/>
          </a:p>
        </p:txBody>
      </p:sp>
      <p:sp>
        <p:nvSpPr>
          <p:cNvPr id="15" name="Text 7"/>
          <p:cNvSpPr/>
          <p:nvPr/>
        </p:nvSpPr>
        <p:spPr>
          <a:xfrm>
            <a:off x="794822" y="4696718"/>
            <a:ext cx="5080766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Parallel Redundancy Protocol</a:t>
            </a:r>
            <a:r>
              <a:rPr lang="en-US" sz="11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sends duplicate frames over two independent networks simultaneously. Zero-delay failover; no recovery time at all.</a:t>
            </a:r>
            <a:endParaRPr lang="en-US" sz="110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3095" y="3826073"/>
            <a:ext cx="5406691" cy="1653877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48494" y="3949799"/>
            <a:ext cx="215795" cy="215801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6316008" y="4391323"/>
            <a:ext cx="5080865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HSR</a:t>
            </a:r>
            <a:endParaRPr lang="en-US" sz="1450" dirty="0"/>
          </a:p>
        </p:txBody>
      </p:sp>
      <p:sp>
        <p:nvSpPr>
          <p:cNvPr id="19" name="Text 9"/>
          <p:cNvSpPr/>
          <p:nvPr/>
        </p:nvSpPr>
        <p:spPr>
          <a:xfrm>
            <a:off x="6316008" y="4696718"/>
            <a:ext cx="5080865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E5E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High-availability Seamless Redundancy</a:t>
            </a:r>
            <a:r>
              <a:rPr lang="en-US" sz="11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zero-loss ring topology. Highest complexity; reserved for the most stringent RTO/RPO requirements.</a:t>
            </a:r>
            <a:endParaRPr lang="en-US" sz="1100" dirty="0"/>
          </a:p>
        </p:txBody>
      </p:sp>
      <p:sp>
        <p:nvSpPr>
          <p:cNvPr id="20" name="Shape 10"/>
          <p:cNvSpPr/>
          <p:nvPr/>
        </p:nvSpPr>
        <p:spPr>
          <a:xfrm>
            <a:off x="631908" y="5608836"/>
            <a:ext cx="10927878" cy="703064"/>
          </a:xfrm>
          <a:prstGeom prst="roundRect">
            <a:avLst>
              <a:gd name="adj" fmla="val 8595"/>
            </a:avLst>
          </a:prstGeom>
          <a:solidFill>
            <a:srgbClr val="740B0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772" y="5773142"/>
            <a:ext cx="179780" cy="14386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099415" y="5759351"/>
            <a:ext cx="10316508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layer of redundancy adds configuration complexity and cost. Choose based on your </a:t>
            </a:r>
            <a:r>
              <a:rPr lang="en-US" sz="11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defined failure scenario</a:t>
            </a:r>
            <a:r>
              <a:rPr lang="en-US" sz="11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and recovery time objective — not on what sounds most robust.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w="9525" cap="flat" cmpd="sng">
            <a:solidFill>
              <a:srgbClr val="0A090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BA2421B7-1304-4684-5DE8-81DA956BEC0D}"/>
              </a:ext>
            </a:extLst>
          </p:cNvPr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740B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6" name="Google Shape;206;p14"/>
          <p:cNvSpPr/>
          <p:nvPr/>
        </p:nvSpPr>
        <p:spPr>
          <a:xfrm>
            <a:off x="631908" y="496491"/>
            <a:ext cx="465820" cy="137021"/>
          </a:xfrm>
          <a:prstGeom prst="roundRect">
            <a:avLst>
              <a:gd name="adj" fmla="val 22137"/>
            </a:avLst>
          </a:prstGeom>
          <a:noFill/>
          <a:ln w="9525" cap="flat" cmpd="sng">
            <a:solidFill>
              <a:srgbClr val="C913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4"/>
          <p:cNvSpPr/>
          <p:nvPr/>
        </p:nvSpPr>
        <p:spPr>
          <a:xfrm>
            <a:off x="685981" y="523478"/>
            <a:ext cx="967259" cy="83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550"/>
              <a:buFont typeface="DM Sans"/>
              <a:buNone/>
            </a:pPr>
            <a:r>
              <a:rPr lang="en-US" sz="550" b="0" i="0" u="none" strike="noStrike" cap="non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TAKEAWAY</a:t>
            </a:r>
            <a:endParaRPr sz="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1908" y="1066701"/>
            <a:ext cx="535380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4"/>
          <p:cNvSpPr/>
          <p:nvPr/>
        </p:nvSpPr>
        <p:spPr>
          <a:xfrm>
            <a:off x="6347658" y="3615035"/>
            <a:ext cx="5828063" cy="108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endParaRPr lang="en-US" sz="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6212327" y="3574455"/>
            <a:ext cx="12700" cy="189508"/>
          </a:xfrm>
          <a:prstGeom prst="roundRect">
            <a:avLst>
              <a:gd name="adj" fmla="val 49999"/>
            </a:avLst>
          </a:prstGeom>
          <a:solidFill>
            <a:srgbClr val="C9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4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lang="en-US" sz="1850" b="0" i="0" u="none" strike="noStrike" cap="none" dirty="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You Don't Need to Memorize Networking. Follow the Data.</a:t>
            </a:r>
            <a:endParaRPr sz="1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4"/>
          <p:cNvSpPr/>
          <p:nvPr/>
        </p:nvSpPr>
        <p:spPr>
          <a:xfrm>
            <a:off x="6212327" y="3814663"/>
            <a:ext cx="5963394" cy="108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endParaRPr lang="en-US" sz="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631908" y="6539012"/>
            <a:ext cx="10927878" cy="409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550"/>
              <a:buFont typeface="Dela Gothic One"/>
              <a:buNone/>
            </a:pPr>
            <a:r>
              <a:rPr lang="en-US" sz="2550" b="0" i="0" u="none" strike="noStrike" cap="non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Questions?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3CE72F81-B4F5-F2D4-FBE8-347C3F4FE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9997" y="501253"/>
            <a:ext cx="4391510" cy="58554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166</TotalTime>
  <Words>1295</Words>
  <Application>Microsoft Office PowerPoint</Application>
  <PresentationFormat>Widescreen</PresentationFormat>
  <Paragraphs>163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Dela Gothic One</vt:lpstr>
      <vt:lpstr>Arial</vt:lpstr>
      <vt:lpstr>Calibri</vt:lpstr>
      <vt:lpstr>Arial Nova Light</vt:lpstr>
      <vt:lpstr>DM Sans</vt:lpstr>
      <vt:lpstr>DM Sans Bold</vt:lpstr>
      <vt:lpstr>Consolas</vt:lpstr>
      <vt:lpstr>Aptos</vt:lpstr>
      <vt:lpstr>Dark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Rinki Sharma</cp:lastModifiedBy>
  <cp:revision>5</cp:revision>
  <dcterms:modified xsi:type="dcterms:W3CDTF">2026-09-15T08:22:31Z</dcterms:modified>
</cp:coreProperties>
</file>