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Dela Gothic One"/>
      <p:regular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-regular.fntdata"/><Relationship Id="rId16" Type="http://schemas.openxmlformats.org/officeDocument/2006/relationships/font" Target="fonts/DelaGothicOne-regular.fntdata"/><Relationship Id="rId5" Type="http://schemas.openxmlformats.org/officeDocument/2006/relationships/slide" Target="slides/slide1.xml"/><Relationship Id="rId19" Type="http://schemas.openxmlformats.org/officeDocument/2006/relationships/font" Target="fonts/DMSans-italic.fntdata"/><Relationship Id="rId6" Type="http://schemas.openxmlformats.org/officeDocument/2006/relationships/slide" Target="slides/slide2.xml"/><Relationship Id="rId18" Type="http://schemas.openxmlformats.org/officeDocument/2006/relationships/font" Target="fonts/DM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409df33c083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409df33c083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409df33c083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5203794" y="3287911"/>
            <a:ext cx="6355993" cy="524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203794" y="4050605"/>
            <a:ext cx="6355993" cy="230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800"/>
              <a:buFont typeface="Dela Gothic One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5203794" y="502543"/>
            <a:ext cx="1977000" cy="257100"/>
          </a:xfrm>
          <a:prstGeom prst="roundRect">
            <a:avLst>
              <a:gd fmla="val 22123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5305292" y="553244"/>
            <a:ext cx="2383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0" i="0" lang="en-US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INTERNAL INCIDENT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5203794" y="823020"/>
            <a:ext cx="6356100" cy="22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00"/>
              <a:buFont typeface="Dela Gothic One"/>
              <a:buNone/>
            </a:pPr>
            <a:r>
              <a:rPr b="0" i="0" lang="en-US" sz="35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PLC is Healthy. SCADA is Healthy. So Why Can't We See the Data?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203794" y="3287911"/>
            <a:ext cx="6356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Bearing Temperature Sensor = 78°C</a:t>
            </a: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· SCADA displays: </a:t>
            </a:r>
            <a:r>
              <a:rPr b="0" i="0" lang="en-US" sz="13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COMMUNICATION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203794" y="4050605"/>
            <a:ext cx="63561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800"/>
              <a:buFont typeface="Dela Gothic One"/>
              <a:buNone/>
            </a:pPr>
            <a:r>
              <a:rPr b="0" i="0" lang="en-US" sz="48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WHERE DID THE COMMUNICATION BREAK?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631908" y="819249"/>
            <a:ext cx="2015678" cy="274241"/>
          </a:xfrm>
          <a:prstGeom prst="roundRect">
            <a:avLst>
              <a:gd fmla="val 22121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740153" y="873323"/>
            <a:ext cx="2408773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1 — THE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31908" y="1165622"/>
            <a:ext cx="10927878" cy="11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b="0" i="0" lang="en-US" sz="3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Before Networking: What Does One Device Need to Talk to Another?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31908" y="2624237"/>
            <a:ext cx="11537463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Our PLC has a value — </a:t>
            </a:r>
            <a:r>
              <a:rPr b="1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Temperature = 78°C</a:t>
            </a: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To deliver it, four questions must be answered: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3116263"/>
            <a:ext cx="361048" cy="36105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631908" y="3702943"/>
            <a:ext cx="5351130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WHO?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31908" y="4108053"/>
            <a:ext cx="535113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Device identity — MAC address on the local segment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656" y="3116263"/>
            <a:ext cx="361048" cy="36105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6208656" y="3702943"/>
            <a:ext cx="5351130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WHERE?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208656" y="4108053"/>
            <a:ext cx="535113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IP address — logical location on the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08" y="4758035"/>
            <a:ext cx="361048" cy="36105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631908" y="5344716"/>
            <a:ext cx="5351130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WHICH SERVICE?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31908" y="5749826"/>
            <a:ext cx="535113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Port number — the specific application listening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8656" y="4758035"/>
            <a:ext cx="361048" cy="3610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6208656" y="5344716"/>
            <a:ext cx="5351130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HOW?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208656" y="5749826"/>
            <a:ext cx="535113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Protocol — the language both sides understand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0657035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631908" y="496491"/>
            <a:ext cx="869730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685981" y="523478"/>
            <a:ext cx="1371169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2 — ADDRESSING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 IP Address Is More Than Just a Number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6212327" y="3334345"/>
            <a:ext cx="5353809" cy="1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00"/>
              <a:buFont typeface="Dela Gothic One"/>
              <a:buNone/>
            </a:pPr>
            <a:r>
              <a:rPr b="0" i="0" lang="en-US" sz="9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Four Numbers. One Delivery Path.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6224662" y="3527822"/>
            <a:ext cx="53538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IP Address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logical identity on the network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Subnet Mask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defines what's "local"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Network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shared segment = direct delivery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Default Gateway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exits the local network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212327" y="4049117"/>
            <a:ext cx="5963394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Our PLC (</a:t>
            </a:r>
            <a:r>
              <a:rPr b="0" i="0" lang="en-US" sz="7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10.10.10.20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) and SCADA (</a:t>
            </a:r>
            <a:r>
              <a:rPr b="0" i="0" lang="en-US" sz="7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10.10.10.100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) share the same subnet — delivery should be direct.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631908" y="505916"/>
            <a:ext cx="1217086" cy="162818"/>
          </a:xfrm>
          <a:prstGeom prst="roundRect">
            <a:avLst>
              <a:gd fmla="val 22122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696201" y="538063"/>
            <a:ext cx="1698086" cy="98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650"/>
              <a:buFont typeface="DM Sans"/>
              <a:buNone/>
            </a:pPr>
            <a:r>
              <a:rPr b="0" i="0" lang="en-US" sz="6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3 — INFRASTRUCTURE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31908" y="694134"/>
            <a:ext cx="10927878" cy="352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Who Moves the Data?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631908" y="1142107"/>
            <a:ext cx="11537463" cy="13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Three devices stand between our PLC and SCADA. Each makes a </a:t>
            </a:r>
            <a:r>
              <a:rPr b="1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decision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not a dictionary definition.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350268"/>
            <a:ext cx="10927878" cy="47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3943677" y="4752835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Router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3943677" y="5148287"/>
            <a:ext cx="1651593" cy="56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Reads IP, connects networks, selects path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9190397" y="4941278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9190397" y="5336731"/>
            <a:ext cx="1651593" cy="37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Receives data from the network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378147" y="1781109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Switch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378147" y="2176561"/>
            <a:ext cx="1651593" cy="56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Reads MAC, forwards within 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603837" y="1781109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Firewall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603837" y="2176561"/>
            <a:ext cx="1651593" cy="37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Inspects traffic, allows or blocks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631908" y="6215459"/>
            <a:ext cx="11537463" cy="13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Each device either </a:t>
            </a:r>
            <a:r>
              <a:rPr b="0" i="0" lang="en-US" sz="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passes the data through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or </a:t>
            </a:r>
            <a:r>
              <a:rPr b="0" i="0" lang="en-US" sz="8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stops it cold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631908" y="496491"/>
            <a:ext cx="999306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685981" y="523478"/>
            <a:ext cx="1500745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4 — ENCAPSULATION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78°C Doesn't Travel Alone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6212327" y="3447256"/>
            <a:ext cx="5353809" cy="1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00"/>
              <a:buFont typeface="Dela Gothic One"/>
              <a:buNone/>
            </a:pPr>
            <a:r>
              <a:rPr b="0" i="0" lang="en-US" sz="9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Payload Never Changes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212327" y="3640733"/>
            <a:ext cx="5963394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Temperature = 78°C sits at the </a:t>
            </a: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core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Every layer wraps delivery instructions </a:t>
            </a:r>
            <a:r>
              <a:rPr b="0" i="1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around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212327" y="3799780"/>
            <a:ext cx="5353809" cy="234553"/>
          </a:xfrm>
          <a:prstGeom prst="roundRect">
            <a:avLst>
              <a:gd fmla="val 16165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2515" y="3870920"/>
            <a:ext cx="112809" cy="901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6505511" y="3862884"/>
            <a:ext cx="5580022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 the destination, layers are stripped in reverse. The value arrives intact — if every layer did its job.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/>
          <p:nvPr/>
        </p:nvSpPr>
        <p:spPr>
          <a:xfrm>
            <a:off x="631908" y="496491"/>
            <a:ext cx="947912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685981" y="523478"/>
            <a:ext cx="1449351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5 — ARCHITECTURE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So Where Does SCADA Actually Fit?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6212327" y="3520480"/>
            <a:ext cx="5353809" cy="1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00"/>
              <a:buFont typeface="Dela Gothic One"/>
              <a:buNone/>
            </a:pPr>
            <a:r>
              <a:rPr b="0" i="0" lang="en-US" sz="9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 Is an Application — Not the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6212327" y="3713956"/>
            <a:ext cx="5353809" cy="257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SCADA </a:t>
            </a: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uses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the network. It doesn't </a:t>
            </a:r>
            <a:r>
              <a:rPr b="0" i="1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replace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it. A failure anywhere upstream — sensor, PLC, switch, firewall — breaks the chain.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Sensor → PLC → Protocol → TCP/IP → SCADA Driver → Tag → HMI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/>
          <p:nvPr/>
        </p:nvSpPr>
        <p:spPr>
          <a:xfrm>
            <a:off x="631908" y="496491"/>
            <a:ext cx="854550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685981" y="523478"/>
            <a:ext cx="1355989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6 — PROTOCOLS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Networking Gives Us the Road. Protocol Gives Us the Language.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"/>
          <p:cNvSpPr/>
          <p:nvPr/>
        </p:nvSpPr>
        <p:spPr>
          <a:xfrm>
            <a:off x="6212327" y="3396357"/>
            <a:ext cx="5353809" cy="1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00"/>
              <a:buFont typeface="Dela Gothic One"/>
              <a:buNone/>
            </a:pPr>
            <a:r>
              <a:rPr b="0" i="0" lang="en-US" sz="9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Three Layers. Three Jobs.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6212327" y="3589834"/>
            <a:ext cx="5353809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IP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</a:t>
            </a:r>
            <a:r>
              <a:rPr b="0" i="1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Where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is the device?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Port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</a:t>
            </a:r>
            <a:r>
              <a:rPr b="0" i="1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Which service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is listening?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Char char="•"/>
            </a:pP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Protocol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</a:t>
            </a:r>
            <a:r>
              <a:rPr b="0" i="1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How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does the application communicate?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6212327" y="3987006"/>
            <a:ext cx="5963394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All three must align. One mismatch — and SCADA sees nothing.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631908" y="552450"/>
            <a:ext cx="1108444" cy="244376"/>
          </a:xfrm>
          <a:prstGeom prst="roundRect">
            <a:avLst>
              <a:gd fmla="val 22109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728347" y="600670"/>
            <a:ext cx="1525152" cy="14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INVESTIGATION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631908" y="854075"/>
            <a:ext cx="10927878" cy="52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300"/>
              <a:buFont typeface="Dela Gothic One"/>
              <a:buNone/>
            </a:pPr>
            <a:r>
              <a:rPr b="0" i="0" lang="en-US" sz="33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Let's Follow One Piece of Data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631908" y="1597819"/>
            <a:ext cx="11537463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Trace </a:t>
            </a:r>
            <a:r>
              <a:rPr b="1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78°C</a:t>
            </a: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from sensor to screen. At which point could it disappear?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631908" y="200203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31908" y="2256234"/>
            <a:ext cx="5392305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631908" y="2374702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Temperature Sensor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631908" y="2725142"/>
            <a:ext cx="5392305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Reads 78°C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167382" y="200203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167382" y="2256234"/>
            <a:ext cx="5392404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167382" y="2374702"/>
            <a:ext cx="5392404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PLC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6167382" y="2725142"/>
            <a:ext cx="5392404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Holds value in register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631908" y="3232051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631908" y="3486249"/>
            <a:ext cx="5392305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631908" y="3604716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Industrial Protocol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31908" y="3955157"/>
            <a:ext cx="5392305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Modbus TCP / OPC UA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6167382" y="3232051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6167382" y="3486249"/>
            <a:ext cx="5392404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>
            <a:off x="6167382" y="3604716"/>
            <a:ext cx="5392404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TCP / IP Stack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6167382" y="3955157"/>
            <a:ext cx="5392404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Encapsulates packet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31908" y="446206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31908" y="4716264"/>
            <a:ext cx="5392305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631908" y="4834731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Switch → Router → Firewall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31908" y="5185172"/>
            <a:ext cx="5392305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Forwards or blocks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6167382" y="446206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6167382" y="4716264"/>
            <a:ext cx="5392404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6167382" y="4834731"/>
            <a:ext cx="5392404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6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 Driver → Tag → HMI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167382" y="5185172"/>
            <a:ext cx="5392404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Displays value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631908" y="5709940"/>
            <a:ext cx="10927878" cy="595610"/>
          </a:xfrm>
          <a:prstGeom prst="roundRect">
            <a:avLst>
              <a:gd fmla="val 11339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639" y="5917704"/>
            <a:ext cx="200913" cy="16073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/>
          <p:nvPr/>
        </p:nvSpPr>
        <p:spPr>
          <a:xfrm>
            <a:off x="1154282" y="5893296"/>
            <a:ext cx="10854359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DM San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 failure anywhere in this chain — and 78°C never reaches the operator.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631908" y="1103511"/>
            <a:ext cx="1598969" cy="274241"/>
          </a:xfrm>
          <a:prstGeom prst="roundRect">
            <a:avLst>
              <a:gd fmla="val 22121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740153" y="1157585"/>
            <a:ext cx="1992064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INCIDENT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631908" y="1449884"/>
            <a:ext cx="10927878" cy="11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b="0" i="0" lang="en-US" sz="37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 Says Communication Failure — Where Would You Look?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631908" y="2908498"/>
            <a:ext cx="3522277" cy="1086743"/>
          </a:xfrm>
          <a:prstGeom prst="roundRect">
            <a:avLst>
              <a:gd fmla="val 6978" name="adj"/>
            </a:avLst>
          </a:prstGeom>
          <a:solidFill>
            <a:srgbClr val="22C55E"/>
          </a:solidFill>
          <a:ln cap="flat" cmpd="sng" w="9525">
            <a:solidFill>
              <a:srgbClr val="08AB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818733" y="3095327"/>
            <a:ext cx="314862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✅ PLC Running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818733" y="3519487"/>
            <a:ext cx="3148628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Operational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334660" y="2908498"/>
            <a:ext cx="3522277" cy="1086743"/>
          </a:xfrm>
          <a:prstGeom prst="roundRect">
            <a:avLst>
              <a:gd fmla="val 6978" name="adj"/>
            </a:avLst>
          </a:prstGeom>
          <a:solidFill>
            <a:srgbClr val="22C55E"/>
          </a:solidFill>
          <a:ln cap="flat" cmpd="sng" w="9525">
            <a:solidFill>
              <a:srgbClr val="08AB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4521484" y="3095327"/>
            <a:ext cx="314862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✅ Switch Link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521484" y="3519487"/>
            <a:ext cx="3148628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Port active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8037411" y="2908498"/>
            <a:ext cx="3522376" cy="1086743"/>
          </a:xfrm>
          <a:prstGeom prst="roundRect">
            <a:avLst>
              <a:gd fmla="val 6978" name="adj"/>
            </a:avLst>
          </a:prstGeom>
          <a:solidFill>
            <a:srgbClr val="22C55E"/>
          </a:solidFill>
          <a:ln cap="flat" cmpd="sng" w="9525">
            <a:solidFill>
              <a:srgbClr val="08AB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8224235" y="3095327"/>
            <a:ext cx="3148727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✅ Ping to PLC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8224235" y="3519487"/>
            <a:ext cx="3148727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Reply received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631908" y="4175720"/>
            <a:ext cx="5373652" cy="1086743"/>
          </a:xfrm>
          <a:prstGeom prst="roundRect">
            <a:avLst>
              <a:gd fmla="val 6978" name="adj"/>
            </a:avLst>
          </a:prstGeom>
          <a:solidFill>
            <a:srgbClr val="C91313"/>
          </a:solidFill>
          <a:ln cap="flat" cmpd="sng" w="9525">
            <a:solidFill>
              <a:srgbClr val="E2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818733" y="4362549"/>
            <a:ext cx="5000004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🔴</a:t>
            </a:r>
            <a:r>
              <a:rPr b="0" i="0" lang="en-US" sz="18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SCADA Tag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818733" y="4786709"/>
            <a:ext cx="5000004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Frozen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6186035" y="4175720"/>
            <a:ext cx="5373752" cy="1086743"/>
          </a:xfrm>
          <a:prstGeom prst="roundRect">
            <a:avLst>
              <a:gd fmla="val 6978" name="adj"/>
            </a:avLst>
          </a:prstGeom>
          <a:solidFill>
            <a:srgbClr val="C91313"/>
          </a:solidFill>
          <a:ln cap="flat" cmpd="sng" w="9525">
            <a:solidFill>
              <a:srgbClr val="E2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6372859" y="4362549"/>
            <a:ext cx="500010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🔴</a:t>
            </a:r>
            <a:r>
              <a:rPr b="0" i="0" lang="en-US" sz="18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TCP Service Test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6372859" y="4786709"/>
            <a:ext cx="5000103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Connection refused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631908" y="5465564"/>
            <a:ext cx="11537463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Ping succeeds. TCP fails.</a:t>
            </a: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Network path is clear — but the </a:t>
            </a:r>
            <a:r>
              <a:rPr b="1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service isn't reachable</a:t>
            </a:r>
            <a:r>
              <a:rPr b="0" i="0" lang="en-US" sz="14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What do you investigate next?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631908" y="496491"/>
            <a:ext cx="465820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685981" y="523478"/>
            <a:ext cx="967259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TAKEAWAY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You Don't Need to Memorize Networking. Follow the Data.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/>
          <p:nvPr/>
        </p:nvSpPr>
        <p:spPr>
          <a:xfrm>
            <a:off x="6347658" y="3615035"/>
            <a:ext cx="5828063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When SCADA says </a:t>
            </a: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'Communication Failure'</a:t>
            </a: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don't guess. </a:t>
            </a:r>
            <a:r>
              <a:rPr b="0" i="0" lang="en-US" sz="7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Follow the data path.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212327" y="3574455"/>
            <a:ext cx="12700" cy="189508"/>
          </a:xfrm>
          <a:prstGeom prst="roundRect">
            <a:avLst>
              <a:gd fmla="val 49999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212327" y="3814663"/>
            <a:ext cx="5963394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0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Every concept in this session maps to one real question: </a:t>
            </a:r>
            <a:r>
              <a:rPr b="1" i="0" lang="en-US" sz="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where is my data right now?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31908" y="6539012"/>
            <a:ext cx="10927878" cy="409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50"/>
              <a:buFont typeface="Dela Gothic One"/>
              <a:buNone/>
            </a:pPr>
            <a:r>
              <a:rPr b="0" i="0" lang="en-US" sz="2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Questions?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